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7"/>
  </p:notes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Lato" charset="1" panose="020F0502020204030203"/>
      <p:regular r:id="rId15"/>
    </p:embeddedFont>
    <p:embeddedFont>
      <p:font typeface="Lato Bold" charset="1" panose="020F0502020204030203"/>
      <p:regular r:id="rId16"/>
    </p:embeddedFont>
    <p:embeddedFont>
      <p:font typeface="Lato Italics" charset="1" panose="020F0502020204030203"/>
      <p:regular r:id="rId20"/>
    </p:embeddedFont>
    <p:embeddedFont>
      <p:font typeface="Poppins Semi-Bold" charset="1" panose="00000700000000000000"/>
      <p:regular r:id="rId21"/>
    </p:embeddedFont>
    <p:embeddedFont>
      <p:font typeface="Poppins" charset="1" panose="000005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notesMasters/notesMaster1.xml" Type="http://schemas.openxmlformats.org/officeDocument/2006/relationships/notesMaster"/><Relationship Id="rId18" Target="theme/theme2.xml" Type="http://schemas.openxmlformats.org/officeDocument/2006/relationships/theme"/><Relationship Id="rId19" Target="notesSlides/notesSlide1.xml" Type="http://schemas.openxmlformats.org/officeDocument/2006/relationships/note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Aménageemnt et construction </a:t>
            </a:r>
          </a:p>
          <a:p>
            <a:r>
              <a:rPr lang="en-US"/>
              <a:t>rédaction des DCE partie technique</a:t>
            </a:r>
          </a:p>
          <a:p>
            <a:r>
              <a:rPr lang="en-US"/>
              <a:t>pas appel d'offre -&gt; analyse des offres </a:t>
            </a:r>
          </a:p>
          <a:p>
            <a:r>
              <a:rPr lang="en-US"/>
              <a:t/>
            </a:r>
          </a:p>
          <a:p>
            <a:r>
              <a:rPr lang="en-US"/>
              <a:t/>
            </a:r>
          </a:p>
          <a:p>
            <a:r>
              <a:rPr lang="en-US"/>
              <a:t>mise en place de process interne automatisé =&gt; ils on très peu de process interne clari et partagé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png" Type="http://schemas.openxmlformats.org/officeDocument/2006/relationships/image"/><Relationship Id="rId4" Target="../media/image1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6F4F1"/>
        </a:solidFill>
      </p:bgPr>
    </p:bg>
    <p:spTree>
      <p:nvGrpSpPr>
        <p:cNvPr id="1" name=""/>
        <p:cNvGrpSpPr/>
        <p:nvPr/>
      </p:nvGrpSpPr>
      <p:grpSpPr>
        <a:xfrm>
          <a:off x="0" y="0"/>
          <a:ext cx="0" cy="0"/>
          <a:chOff x="0" y="0"/>
          <a:chExt cx="0" cy="0"/>
        </a:xfrm>
      </p:grpSpPr>
      <p:sp>
        <p:nvSpPr>
          <p:cNvPr name="TextBox 2" id="2"/>
          <p:cNvSpPr txBox="true"/>
          <p:nvPr/>
        </p:nvSpPr>
        <p:spPr>
          <a:xfrm rot="0">
            <a:off x="2123779" y="3698745"/>
            <a:ext cx="14755859" cy="4098926"/>
          </a:xfrm>
          <a:prstGeom prst="rect">
            <a:avLst/>
          </a:prstGeom>
        </p:spPr>
        <p:txBody>
          <a:bodyPr anchor="t" rtlCol="false" tIns="0" lIns="0" bIns="0" rIns="0">
            <a:spAutoFit/>
          </a:bodyPr>
          <a:lstStyle/>
          <a:p>
            <a:pPr algn="l">
              <a:lnSpc>
                <a:spcPts val="8000"/>
              </a:lnSpc>
            </a:pPr>
            <a:r>
              <a:rPr lang="en-US" sz="8000">
                <a:solidFill>
                  <a:srgbClr val="253439"/>
                </a:solidFill>
                <a:latin typeface="Lato"/>
                <a:ea typeface="Lato"/>
                <a:cs typeface="Lato"/>
                <a:sym typeface="Lato"/>
              </a:rPr>
              <a:t>Simplifier le complexe.</a:t>
            </a:r>
          </a:p>
          <a:p>
            <a:pPr algn="l">
              <a:lnSpc>
                <a:spcPts val="8000"/>
              </a:lnSpc>
            </a:pPr>
            <a:r>
              <a:rPr lang="en-US" sz="8000">
                <a:solidFill>
                  <a:srgbClr val="253439"/>
                </a:solidFill>
                <a:latin typeface="Lato"/>
                <a:ea typeface="Lato"/>
                <a:cs typeface="Lato"/>
                <a:sym typeface="Lato"/>
              </a:rPr>
              <a:t>Accélérer l'</a:t>
            </a:r>
            <a:r>
              <a:rPr lang="en-US" sz="8000">
                <a:solidFill>
                  <a:srgbClr val="253439"/>
                </a:solidFill>
                <a:latin typeface="Lato"/>
                <a:ea typeface="Lato"/>
                <a:cs typeface="Lato"/>
                <a:sym typeface="Lato"/>
              </a:rPr>
              <a:t>essentiel.</a:t>
            </a:r>
          </a:p>
          <a:p>
            <a:pPr algn="l">
              <a:lnSpc>
                <a:spcPts val="8000"/>
              </a:lnSpc>
            </a:pPr>
            <a:r>
              <a:rPr lang="en-US" sz="8000">
                <a:solidFill>
                  <a:srgbClr val="253439"/>
                </a:solidFill>
                <a:latin typeface="Lato"/>
                <a:ea typeface="Lato"/>
                <a:cs typeface="Lato"/>
                <a:sym typeface="Lato"/>
              </a:rPr>
              <a:t>Créer les bons outils.</a:t>
            </a:r>
          </a:p>
          <a:p>
            <a:pPr algn="l">
              <a:lnSpc>
                <a:spcPts val="8000"/>
              </a:lnSpc>
            </a:pPr>
          </a:p>
        </p:txBody>
      </p:sp>
      <p:grpSp>
        <p:nvGrpSpPr>
          <p:cNvPr name="Group 3" id="3"/>
          <p:cNvGrpSpPr/>
          <p:nvPr/>
        </p:nvGrpSpPr>
        <p:grpSpPr>
          <a:xfrm rot="-5400000">
            <a:off x="4712497" y="4591188"/>
            <a:ext cx="225880" cy="5403316"/>
            <a:chOff x="0" y="0"/>
            <a:chExt cx="301173" cy="7204422"/>
          </a:xfrm>
        </p:grpSpPr>
        <p:grpSp>
          <p:nvGrpSpPr>
            <p:cNvPr name="Group 4" id="4"/>
            <p:cNvGrpSpPr/>
            <p:nvPr/>
          </p:nvGrpSpPr>
          <p:grpSpPr>
            <a:xfrm rot="0">
              <a:off x="0" y="0"/>
              <a:ext cx="301173" cy="7204422"/>
              <a:chOff x="0" y="0"/>
              <a:chExt cx="59491" cy="1423096"/>
            </a:xfrm>
          </p:grpSpPr>
          <p:sp>
            <p:nvSpPr>
              <p:cNvPr name="Freeform 5" id="5"/>
              <p:cNvSpPr/>
              <p:nvPr/>
            </p:nvSpPr>
            <p:spPr>
              <a:xfrm flipH="false" flipV="false" rot="0">
                <a:off x="0" y="0"/>
                <a:ext cx="59491" cy="1423096"/>
              </a:xfrm>
              <a:custGeom>
                <a:avLst/>
                <a:gdLst/>
                <a:ahLst/>
                <a:cxnLst/>
                <a:rect r="r" b="b" t="t" l="l"/>
                <a:pathLst>
                  <a:path h="1423096" w="59491">
                    <a:moveTo>
                      <a:pt x="0" y="0"/>
                    </a:moveTo>
                    <a:lnTo>
                      <a:pt x="59491" y="0"/>
                    </a:lnTo>
                    <a:lnTo>
                      <a:pt x="59491" y="1423096"/>
                    </a:lnTo>
                    <a:lnTo>
                      <a:pt x="0" y="1423096"/>
                    </a:lnTo>
                    <a:close/>
                  </a:path>
                </a:pathLst>
              </a:custGeom>
              <a:solidFill>
                <a:srgbClr val="7C898B"/>
              </a:solidFill>
            </p:spPr>
          </p:sp>
          <p:sp>
            <p:nvSpPr>
              <p:cNvPr name="TextBox 6" id="6"/>
              <p:cNvSpPr txBox="true"/>
              <p:nvPr/>
            </p:nvSpPr>
            <p:spPr>
              <a:xfrm>
                <a:off x="0" y="-38100"/>
                <a:ext cx="59491" cy="1461196"/>
              </a:xfrm>
              <a:prstGeom prst="rect">
                <a:avLst/>
              </a:prstGeom>
            </p:spPr>
            <p:txBody>
              <a:bodyPr anchor="ctr" rtlCol="false" tIns="50800" lIns="50800" bIns="50800" rIns="50800"/>
              <a:lstStyle/>
              <a:p>
                <a:pPr algn="ctr">
                  <a:lnSpc>
                    <a:spcPts val="2799"/>
                  </a:lnSpc>
                </a:pPr>
              </a:p>
            </p:txBody>
          </p:sp>
        </p:grpSp>
        <p:grpSp>
          <p:nvGrpSpPr>
            <p:cNvPr name="Group 7" id="7"/>
            <p:cNvGrpSpPr/>
            <p:nvPr/>
          </p:nvGrpSpPr>
          <p:grpSpPr>
            <a:xfrm rot="0">
              <a:off x="0" y="0"/>
              <a:ext cx="301173" cy="1830478"/>
              <a:chOff x="0" y="0"/>
              <a:chExt cx="59491" cy="361576"/>
            </a:xfrm>
          </p:grpSpPr>
          <p:sp>
            <p:nvSpPr>
              <p:cNvPr name="Freeform 8" id="8"/>
              <p:cNvSpPr/>
              <p:nvPr/>
            </p:nvSpPr>
            <p:spPr>
              <a:xfrm flipH="false" flipV="false" rot="0">
                <a:off x="0" y="0"/>
                <a:ext cx="59491" cy="361576"/>
              </a:xfrm>
              <a:custGeom>
                <a:avLst/>
                <a:gdLst/>
                <a:ahLst/>
                <a:cxnLst/>
                <a:rect r="r" b="b" t="t" l="l"/>
                <a:pathLst>
                  <a:path h="361576" w="59491">
                    <a:moveTo>
                      <a:pt x="0" y="0"/>
                    </a:moveTo>
                    <a:lnTo>
                      <a:pt x="59491" y="0"/>
                    </a:lnTo>
                    <a:lnTo>
                      <a:pt x="59491" y="361576"/>
                    </a:lnTo>
                    <a:lnTo>
                      <a:pt x="0" y="361576"/>
                    </a:lnTo>
                    <a:close/>
                  </a:path>
                </a:pathLst>
              </a:custGeom>
              <a:solidFill>
                <a:srgbClr val="253439"/>
              </a:solidFill>
            </p:spPr>
          </p:sp>
          <p:sp>
            <p:nvSpPr>
              <p:cNvPr name="TextBox 9" id="9"/>
              <p:cNvSpPr txBox="true"/>
              <p:nvPr/>
            </p:nvSpPr>
            <p:spPr>
              <a:xfrm>
                <a:off x="0" y="-38100"/>
                <a:ext cx="59491" cy="399676"/>
              </a:xfrm>
              <a:prstGeom prst="rect">
                <a:avLst/>
              </a:prstGeom>
            </p:spPr>
            <p:txBody>
              <a:bodyPr anchor="ctr" rtlCol="false" tIns="50800" lIns="50800" bIns="50800" rIns="50800"/>
              <a:lstStyle/>
              <a:p>
                <a:pPr algn="ctr">
                  <a:lnSpc>
                    <a:spcPts val="2799"/>
                  </a:lnSpc>
                </a:pPr>
              </a:p>
            </p:txBody>
          </p:sp>
        </p:grpSp>
        <p:grpSp>
          <p:nvGrpSpPr>
            <p:cNvPr name="Group 10" id="10"/>
            <p:cNvGrpSpPr/>
            <p:nvPr/>
          </p:nvGrpSpPr>
          <p:grpSpPr>
            <a:xfrm rot="0">
              <a:off x="0" y="1828197"/>
              <a:ext cx="301173" cy="795134"/>
              <a:chOff x="0" y="0"/>
              <a:chExt cx="59491" cy="157064"/>
            </a:xfrm>
          </p:grpSpPr>
          <p:sp>
            <p:nvSpPr>
              <p:cNvPr name="Freeform 11" id="11"/>
              <p:cNvSpPr/>
              <p:nvPr/>
            </p:nvSpPr>
            <p:spPr>
              <a:xfrm flipH="false" flipV="false" rot="0">
                <a:off x="0" y="0"/>
                <a:ext cx="59491" cy="157064"/>
              </a:xfrm>
              <a:custGeom>
                <a:avLst/>
                <a:gdLst/>
                <a:ahLst/>
                <a:cxnLst/>
                <a:rect r="r" b="b" t="t" l="l"/>
                <a:pathLst>
                  <a:path h="157064" w="59491">
                    <a:moveTo>
                      <a:pt x="0" y="0"/>
                    </a:moveTo>
                    <a:lnTo>
                      <a:pt x="59491" y="0"/>
                    </a:lnTo>
                    <a:lnTo>
                      <a:pt x="59491" y="157064"/>
                    </a:lnTo>
                    <a:lnTo>
                      <a:pt x="0" y="157064"/>
                    </a:lnTo>
                    <a:close/>
                  </a:path>
                </a:pathLst>
              </a:custGeom>
              <a:solidFill>
                <a:srgbClr val="B29E84"/>
              </a:solidFill>
            </p:spPr>
          </p:sp>
          <p:sp>
            <p:nvSpPr>
              <p:cNvPr name="TextBox 12" id="12"/>
              <p:cNvSpPr txBox="true"/>
              <p:nvPr/>
            </p:nvSpPr>
            <p:spPr>
              <a:xfrm>
                <a:off x="0" y="-38100"/>
                <a:ext cx="59491" cy="195164"/>
              </a:xfrm>
              <a:prstGeom prst="rect">
                <a:avLst/>
              </a:prstGeom>
            </p:spPr>
            <p:txBody>
              <a:bodyPr anchor="ctr" rtlCol="false" tIns="50800" lIns="50800" bIns="50800" rIns="50800"/>
              <a:lstStyle/>
              <a:p>
                <a:pPr algn="ctr">
                  <a:lnSpc>
                    <a:spcPts val="2799"/>
                  </a:lnSpc>
                </a:pPr>
              </a:p>
            </p:txBody>
          </p:sp>
        </p:grpSp>
      </p:grpSp>
      <p:grpSp>
        <p:nvGrpSpPr>
          <p:cNvPr name="Group 13" id="13"/>
          <p:cNvGrpSpPr/>
          <p:nvPr/>
        </p:nvGrpSpPr>
        <p:grpSpPr>
          <a:xfrm rot="0">
            <a:off x="15477180" y="1130365"/>
            <a:ext cx="1352255" cy="274763"/>
            <a:chOff x="0" y="0"/>
            <a:chExt cx="1803007" cy="366350"/>
          </a:xfrm>
        </p:grpSpPr>
        <p:grpSp>
          <p:nvGrpSpPr>
            <p:cNvPr name="Group 14" id="14"/>
            <p:cNvGrpSpPr/>
            <p:nvPr/>
          </p:nvGrpSpPr>
          <p:grpSpPr>
            <a:xfrm rot="-5400000">
              <a:off x="0" y="0"/>
              <a:ext cx="366350" cy="366350"/>
              <a:chOff x="0" y="0"/>
              <a:chExt cx="178795" cy="178795"/>
            </a:xfrm>
          </p:grpSpPr>
          <p:sp>
            <p:nvSpPr>
              <p:cNvPr name="Freeform 15" id="15"/>
              <p:cNvSpPr/>
              <p:nvPr/>
            </p:nvSpPr>
            <p:spPr>
              <a:xfrm flipH="false" flipV="false" rot="0">
                <a:off x="0" y="0"/>
                <a:ext cx="178795" cy="178795"/>
              </a:xfrm>
              <a:custGeom>
                <a:avLst/>
                <a:gdLst/>
                <a:ahLst/>
                <a:cxnLst/>
                <a:rect r="r" b="b" t="t" l="l"/>
                <a:pathLst>
                  <a:path h="178795" w="178795">
                    <a:moveTo>
                      <a:pt x="0" y="0"/>
                    </a:moveTo>
                    <a:lnTo>
                      <a:pt x="178795" y="0"/>
                    </a:lnTo>
                    <a:lnTo>
                      <a:pt x="178795" y="178795"/>
                    </a:lnTo>
                    <a:lnTo>
                      <a:pt x="0" y="178795"/>
                    </a:lnTo>
                    <a:close/>
                  </a:path>
                </a:pathLst>
              </a:custGeom>
              <a:solidFill>
                <a:srgbClr val="253439"/>
              </a:solidFill>
            </p:spPr>
          </p:sp>
          <p:sp>
            <p:nvSpPr>
              <p:cNvPr name="TextBox 16" id="16"/>
              <p:cNvSpPr txBox="true"/>
              <p:nvPr/>
            </p:nvSpPr>
            <p:spPr>
              <a:xfrm>
                <a:off x="0" y="-38100"/>
                <a:ext cx="178795" cy="216895"/>
              </a:xfrm>
              <a:prstGeom prst="rect">
                <a:avLst/>
              </a:prstGeom>
            </p:spPr>
            <p:txBody>
              <a:bodyPr anchor="ctr" rtlCol="false" tIns="50800" lIns="50800" bIns="50800" rIns="50800"/>
              <a:lstStyle/>
              <a:p>
                <a:pPr algn="ctr">
                  <a:lnSpc>
                    <a:spcPts val="2799"/>
                  </a:lnSpc>
                </a:pPr>
              </a:p>
            </p:txBody>
          </p:sp>
        </p:grpSp>
        <p:grpSp>
          <p:nvGrpSpPr>
            <p:cNvPr name="Group 17" id="17"/>
            <p:cNvGrpSpPr/>
            <p:nvPr/>
          </p:nvGrpSpPr>
          <p:grpSpPr>
            <a:xfrm rot="-5400000">
              <a:off x="718328" y="0"/>
              <a:ext cx="366350" cy="366350"/>
              <a:chOff x="0" y="0"/>
              <a:chExt cx="178795" cy="178795"/>
            </a:xfrm>
          </p:grpSpPr>
          <p:sp>
            <p:nvSpPr>
              <p:cNvPr name="Freeform 18" id="18"/>
              <p:cNvSpPr/>
              <p:nvPr/>
            </p:nvSpPr>
            <p:spPr>
              <a:xfrm flipH="false" flipV="false" rot="0">
                <a:off x="0" y="0"/>
                <a:ext cx="178795" cy="178795"/>
              </a:xfrm>
              <a:custGeom>
                <a:avLst/>
                <a:gdLst/>
                <a:ahLst/>
                <a:cxnLst/>
                <a:rect r="r" b="b" t="t" l="l"/>
                <a:pathLst>
                  <a:path h="178795" w="178795">
                    <a:moveTo>
                      <a:pt x="0" y="0"/>
                    </a:moveTo>
                    <a:lnTo>
                      <a:pt x="178795" y="0"/>
                    </a:lnTo>
                    <a:lnTo>
                      <a:pt x="178795" y="178795"/>
                    </a:lnTo>
                    <a:lnTo>
                      <a:pt x="0" y="178795"/>
                    </a:lnTo>
                    <a:close/>
                  </a:path>
                </a:pathLst>
              </a:custGeom>
              <a:solidFill>
                <a:srgbClr val="B29E84"/>
              </a:solidFill>
            </p:spPr>
          </p:sp>
          <p:sp>
            <p:nvSpPr>
              <p:cNvPr name="TextBox 19" id="19"/>
              <p:cNvSpPr txBox="true"/>
              <p:nvPr/>
            </p:nvSpPr>
            <p:spPr>
              <a:xfrm>
                <a:off x="0" y="-38100"/>
                <a:ext cx="178795" cy="216895"/>
              </a:xfrm>
              <a:prstGeom prst="rect">
                <a:avLst/>
              </a:prstGeom>
            </p:spPr>
            <p:txBody>
              <a:bodyPr anchor="ctr" rtlCol="false" tIns="50800" lIns="50800" bIns="50800" rIns="50800"/>
              <a:lstStyle/>
              <a:p>
                <a:pPr algn="ctr">
                  <a:lnSpc>
                    <a:spcPts val="2799"/>
                  </a:lnSpc>
                </a:pPr>
              </a:p>
            </p:txBody>
          </p:sp>
        </p:grpSp>
        <p:grpSp>
          <p:nvGrpSpPr>
            <p:cNvPr name="Group 20" id="20"/>
            <p:cNvGrpSpPr/>
            <p:nvPr/>
          </p:nvGrpSpPr>
          <p:grpSpPr>
            <a:xfrm rot="-5400000">
              <a:off x="1436657" y="0"/>
              <a:ext cx="366350" cy="366350"/>
              <a:chOff x="0" y="0"/>
              <a:chExt cx="178795" cy="178795"/>
            </a:xfrm>
          </p:grpSpPr>
          <p:sp>
            <p:nvSpPr>
              <p:cNvPr name="Freeform 21" id="21"/>
              <p:cNvSpPr/>
              <p:nvPr/>
            </p:nvSpPr>
            <p:spPr>
              <a:xfrm flipH="false" flipV="false" rot="0">
                <a:off x="0" y="0"/>
                <a:ext cx="178795" cy="178795"/>
              </a:xfrm>
              <a:custGeom>
                <a:avLst/>
                <a:gdLst/>
                <a:ahLst/>
                <a:cxnLst/>
                <a:rect r="r" b="b" t="t" l="l"/>
                <a:pathLst>
                  <a:path h="178795" w="178795">
                    <a:moveTo>
                      <a:pt x="0" y="0"/>
                    </a:moveTo>
                    <a:lnTo>
                      <a:pt x="178795" y="0"/>
                    </a:lnTo>
                    <a:lnTo>
                      <a:pt x="178795" y="178795"/>
                    </a:lnTo>
                    <a:lnTo>
                      <a:pt x="0" y="178795"/>
                    </a:lnTo>
                    <a:close/>
                  </a:path>
                </a:pathLst>
              </a:custGeom>
              <a:solidFill>
                <a:srgbClr val="7C898B"/>
              </a:solidFill>
            </p:spPr>
          </p:sp>
          <p:sp>
            <p:nvSpPr>
              <p:cNvPr name="TextBox 22" id="22"/>
              <p:cNvSpPr txBox="true"/>
              <p:nvPr/>
            </p:nvSpPr>
            <p:spPr>
              <a:xfrm>
                <a:off x="0" y="-38100"/>
                <a:ext cx="178795" cy="216895"/>
              </a:xfrm>
              <a:prstGeom prst="rect">
                <a:avLst/>
              </a:prstGeom>
            </p:spPr>
            <p:txBody>
              <a:bodyPr anchor="ctr" rtlCol="false" tIns="50800" lIns="50800" bIns="50800" rIns="50800"/>
              <a:lstStyle/>
              <a:p>
                <a:pPr algn="ctr">
                  <a:lnSpc>
                    <a:spcPts val="2799"/>
                  </a:lnSpc>
                </a:pPr>
              </a:p>
            </p:txBody>
          </p:sp>
        </p:grpSp>
      </p:grpSp>
      <p:grpSp>
        <p:nvGrpSpPr>
          <p:cNvPr name="Group 23" id="23"/>
          <p:cNvGrpSpPr/>
          <p:nvPr/>
        </p:nvGrpSpPr>
        <p:grpSpPr>
          <a:xfrm rot="0">
            <a:off x="-381720" y="-218676"/>
            <a:ext cx="1410420" cy="10724351"/>
            <a:chOff x="0" y="0"/>
            <a:chExt cx="371469" cy="2824521"/>
          </a:xfrm>
        </p:grpSpPr>
        <p:sp>
          <p:nvSpPr>
            <p:cNvPr name="Freeform 24" id="24"/>
            <p:cNvSpPr/>
            <p:nvPr/>
          </p:nvSpPr>
          <p:spPr>
            <a:xfrm flipH="false" flipV="false" rot="0">
              <a:off x="0" y="0"/>
              <a:ext cx="371469" cy="2824520"/>
            </a:xfrm>
            <a:custGeom>
              <a:avLst/>
              <a:gdLst/>
              <a:ahLst/>
              <a:cxnLst/>
              <a:rect r="r" b="b" t="t" l="l"/>
              <a:pathLst>
                <a:path h="2824520" w="371469">
                  <a:moveTo>
                    <a:pt x="0" y="0"/>
                  </a:moveTo>
                  <a:lnTo>
                    <a:pt x="371469" y="0"/>
                  </a:lnTo>
                  <a:lnTo>
                    <a:pt x="371469" y="2824520"/>
                  </a:lnTo>
                  <a:lnTo>
                    <a:pt x="0" y="2824520"/>
                  </a:lnTo>
                  <a:close/>
                </a:path>
              </a:pathLst>
            </a:custGeom>
            <a:solidFill>
              <a:srgbClr val="E5E0DA"/>
            </a:solidFill>
          </p:spPr>
        </p:sp>
        <p:sp>
          <p:nvSpPr>
            <p:cNvPr name="TextBox 25" id="25"/>
            <p:cNvSpPr txBox="true"/>
            <p:nvPr/>
          </p:nvSpPr>
          <p:spPr>
            <a:xfrm>
              <a:off x="0" y="-38100"/>
              <a:ext cx="371469" cy="2862621"/>
            </a:xfrm>
            <a:prstGeom prst="rect">
              <a:avLst/>
            </a:prstGeom>
          </p:spPr>
          <p:txBody>
            <a:bodyPr anchor="ctr" rtlCol="false" tIns="50800" lIns="50800" bIns="50800" rIns="50800"/>
            <a:lstStyle/>
            <a:p>
              <a:pPr algn="ctr">
                <a:lnSpc>
                  <a:spcPts val="2799"/>
                </a:lnSpc>
              </a:pPr>
            </a:p>
          </p:txBody>
        </p:sp>
      </p:grpSp>
      <p:grpSp>
        <p:nvGrpSpPr>
          <p:cNvPr name="Group 26" id="26"/>
          <p:cNvGrpSpPr/>
          <p:nvPr/>
        </p:nvGrpSpPr>
        <p:grpSpPr>
          <a:xfrm rot="0">
            <a:off x="-229320" y="-66276"/>
            <a:ext cx="1258020" cy="1655660"/>
            <a:chOff x="0" y="0"/>
            <a:chExt cx="331330" cy="436059"/>
          </a:xfrm>
        </p:grpSpPr>
        <p:sp>
          <p:nvSpPr>
            <p:cNvPr name="Freeform 27" id="27"/>
            <p:cNvSpPr/>
            <p:nvPr/>
          </p:nvSpPr>
          <p:spPr>
            <a:xfrm flipH="false" flipV="false" rot="0">
              <a:off x="0" y="0"/>
              <a:ext cx="331330" cy="436059"/>
            </a:xfrm>
            <a:custGeom>
              <a:avLst/>
              <a:gdLst/>
              <a:ahLst/>
              <a:cxnLst/>
              <a:rect r="r" b="b" t="t" l="l"/>
              <a:pathLst>
                <a:path h="436059" w="331330">
                  <a:moveTo>
                    <a:pt x="0" y="0"/>
                  </a:moveTo>
                  <a:lnTo>
                    <a:pt x="331330" y="0"/>
                  </a:lnTo>
                  <a:lnTo>
                    <a:pt x="331330" y="436059"/>
                  </a:lnTo>
                  <a:lnTo>
                    <a:pt x="0" y="436059"/>
                  </a:lnTo>
                  <a:close/>
                </a:path>
              </a:pathLst>
            </a:custGeom>
            <a:solidFill>
              <a:srgbClr val="253439"/>
            </a:solidFill>
          </p:spPr>
        </p:sp>
        <p:sp>
          <p:nvSpPr>
            <p:cNvPr name="TextBox 28" id="28"/>
            <p:cNvSpPr txBox="true"/>
            <p:nvPr/>
          </p:nvSpPr>
          <p:spPr>
            <a:xfrm>
              <a:off x="0" y="-38100"/>
              <a:ext cx="331330" cy="474159"/>
            </a:xfrm>
            <a:prstGeom prst="rect">
              <a:avLst/>
            </a:prstGeom>
          </p:spPr>
          <p:txBody>
            <a:bodyPr anchor="ctr" rtlCol="false" tIns="50800" lIns="50800" bIns="50800" rIns="50800"/>
            <a:lstStyle/>
            <a:p>
              <a:pPr algn="ctr">
                <a:lnSpc>
                  <a:spcPts val="2799"/>
                </a:lnSpc>
              </a:pPr>
            </a:p>
          </p:txBody>
        </p:sp>
      </p:grpSp>
      <p:sp>
        <p:nvSpPr>
          <p:cNvPr name="Freeform 29" id="29"/>
          <p:cNvSpPr/>
          <p:nvPr/>
        </p:nvSpPr>
        <p:spPr>
          <a:xfrm flipH="false" flipV="false" rot="0">
            <a:off x="15457152" y="9267825"/>
            <a:ext cx="1802148" cy="345347"/>
          </a:xfrm>
          <a:custGeom>
            <a:avLst/>
            <a:gdLst/>
            <a:ahLst/>
            <a:cxnLst/>
            <a:rect r="r" b="b" t="t" l="l"/>
            <a:pathLst>
              <a:path h="345347" w="1802148">
                <a:moveTo>
                  <a:pt x="0" y="0"/>
                </a:moveTo>
                <a:lnTo>
                  <a:pt x="1802148" y="0"/>
                </a:lnTo>
                <a:lnTo>
                  <a:pt x="1802148" y="345347"/>
                </a:lnTo>
                <a:lnTo>
                  <a:pt x="0" y="345347"/>
                </a:lnTo>
                <a:lnTo>
                  <a:pt x="0" y="0"/>
                </a:lnTo>
                <a:close/>
              </a:path>
            </a:pathLst>
          </a:custGeom>
          <a:blipFill>
            <a:blip r:embed="rId2"/>
            <a:stretch>
              <a:fillRect l="0" t="-60148" r="0" b="-57283"/>
            </a:stretch>
          </a:blipFill>
        </p:spPr>
      </p:sp>
      <p:sp>
        <p:nvSpPr>
          <p:cNvPr name="Freeform 30" id="30"/>
          <p:cNvSpPr/>
          <p:nvPr/>
        </p:nvSpPr>
        <p:spPr>
          <a:xfrm flipH="false" flipV="false" rot="0">
            <a:off x="2123779" y="8359081"/>
            <a:ext cx="934406" cy="612379"/>
          </a:xfrm>
          <a:custGeom>
            <a:avLst/>
            <a:gdLst/>
            <a:ahLst/>
            <a:cxnLst/>
            <a:rect r="r" b="b" t="t" l="l"/>
            <a:pathLst>
              <a:path h="612379" w="934406">
                <a:moveTo>
                  <a:pt x="0" y="0"/>
                </a:moveTo>
                <a:lnTo>
                  <a:pt x="934405" y="0"/>
                </a:lnTo>
                <a:lnTo>
                  <a:pt x="934405" y="612379"/>
                </a:lnTo>
                <a:lnTo>
                  <a:pt x="0" y="612379"/>
                </a:lnTo>
                <a:lnTo>
                  <a:pt x="0" y="0"/>
                </a:lnTo>
                <a:close/>
              </a:path>
            </a:pathLst>
          </a:custGeom>
          <a:blipFill>
            <a:blip r:embed="rId3"/>
            <a:stretch>
              <a:fillRect l="0" t="0" r="0" b="0"/>
            </a:stretch>
          </a:blipFill>
        </p:spPr>
      </p:sp>
      <p:sp>
        <p:nvSpPr>
          <p:cNvPr name="Freeform 31" id="31"/>
          <p:cNvSpPr/>
          <p:nvPr/>
        </p:nvSpPr>
        <p:spPr>
          <a:xfrm flipH="false" flipV="false" rot="0">
            <a:off x="3347667" y="8397410"/>
            <a:ext cx="487907" cy="535721"/>
          </a:xfrm>
          <a:custGeom>
            <a:avLst/>
            <a:gdLst/>
            <a:ahLst/>
            <a:cxnLst/>
            <a:rect r="r" b="b" t="t" l="l"/>
            <a:pathLst>
              <a:path h="535721" w="487907">
                <a:moveTo>
                  <a:pt x="0" y="0"/>
                </a:moveTo>
                <a:lnTo>
                  <a:pt x="487906" y="0"/>
                </a:lnTo>
                <a:lnTo>
                  <a:pt x="487906" y="535722"/>
                </a:lnTo>
                <a:lnTo>
                  <a:pt x="0" y="535722"/>
                </a:lnTo>
                <a:lnTo>
                  <a:pt x="0" y="0"/>
                </a:lnTo>
                <a:close/>
              </a:path>
            </a:pathLst>
          </a:custGeom>
          <a:blipFill>
            <a:blip r:embed="rId4"/>
            <a:stretch>
              <a:fillRect l="0" t="0" r="0" b="0"/>
            </a:stretch>
          </a:blipFill>
        </p:spPr>
      </p:sp>
      <p:sp>
        <p:nvSpPr>
          <p:cNvPr name="Freeform 32" id="32"/>
          <p:cNvSpPr/>
          <p:nvPr/>
        </p:nvSpPr>
        <p:spPr>
          <a:xfrm flipH="false" flipV="false" rot="0">
            <a:off x="4203624" y="8397410"/>
            <a:ext cx="568658" cy="574050"/>
          </a:xfrm>
          <a:custGeom>
            <a:avLst/>
            <a:gdLst/>
            <a:ahLst/>
            <a:cxnLst/>
            <a:rect r="r" b="b" t="t" l="l"/>
            <a:pathLst>
              <a:path h="574050" w="568658">
                <a:moveTo>
                  <a:pt x="0" y="0"/>
                </a:moveTo>
                <a:lnTo>
                  <a:pt x="568658" y="0"/>
                </a:lnTo>
                <a:lnTo>
                  <a:pt x="568658" y="574050"/>
                </a:lnTo>
                <a:lnTo>
                  <a:pt x="0" y="574050"/>
                </a:lnTo>
                <a:lnTo>
                  <a:pt x="0" y="0"/>
                </a:lnTo>
                <a:close/>
              </a:path>
            </a:pathLst>
          </a:custGeom>
          <a:blipFill>
            <a:blip r:embed="rId5"/>
            <a:stretch>
              <a:fillRect l="-61140" t="-18788" r="-61140" b="-16998"/>
            </a:stretch>
          </a:blipFill>
        </p:spPr>
      </p:sp>
      <p:sp>
        <p:nvSpPr>
          <p:cNvPr name="Freeform 33" id="33"/>
          <p:cNvSpPr/>
          <p:nvPr/>
        </p:nvSpPr>
        <p:spPr>
          <a:xfrm flipH="false" flipV="false" rot="0">
            <a:off x="5077082" y="8397410"/>
            <a:ext cx="789072" cy="574050"/>
          </a:xfrm>
          <a:custGeom>
            <a:avLst/>
            <a:gdLst/>
            <a:ahLst/>
            <a:cxnLst/>
            <a:rect r="r" b="b" t="t" l="l"/>
            <a:pathLst>
              <a:path h="574050" w="789072">
                <a:moveTo>
                  <a:pt x="0" y="0"/>
                </a:moveTo>
                <a:lnTo>
                  <a:pt x="789073" y="0"/>
                </a:lnTo>
                <a:lnTo>
                  <a:pt x="789073" y="574050"/>
                </a:lnTo>
                <a:lnTo>
                  <a:pt x="0" y="574050"/>
                </a:lnTo>
                <a:lnTo>
                  <a:pt x="0" y="0"/>
                </a:lnTo>
                <a:close/>
              </a:path>
            </a:pathLst>
          </a:custGeom>
          <a:blipFill>
            <a:blip r:embed="rId6"/>
            <a:stretch>
              <a:fillRect l="0" t="0" r="0" b="0"/>
            </a:stretch>
          </a:blipFill>
        </p:spPr>
      </p:sp>
      <p:sp>
        <p:nvSpPr>
          <p:cNvPr name="Freeform 34" id="34"/>
          <p:cNvSpPr/>
          <p:nvPr/>
        </p:nvSpPr>
        <p:spPr>
          <a:xfrm flipH="false" flipV="false" rot="0">
            <a:off x="6237630" y="8348448"/>
            <a:ext cx="391466" cy="633646"/>
          </a:xfrm>
          <a:custGeom>
            <a:avLst/>
            <a:gdLst/>
            <a:ahLst/>
            <a:cxnLst/>
            <a:rect r="r" b="b" t="t" l="l"/>
            <a:pathLst>
              <a:path h="633646" w="391466">
                <a:moveTo>
                  <a:pt x="0" y="0"/>
                </a:moveTo>
                <a:lnTo>
                  <a:pt x="391465" y="0"/>
                </a:lnTo>
                <a:lnTo>
                  <a:pt x="391465" y="633646"/>
                </a:lnTo>
                <a:lnTo>
                  <a:pt x="0" y="633646"/>
                </a:lnTo>
                <a:lnTo>
                  <a:pt x="0" y="0"/>
                </a:lnTo>
                <a:close/>
              </a:path>
            </a:pathLst>
          </a:custGeom>
          <a:blipFill>
            <a:blip r:embed="rId7"/>
            <a:stretch>
              <a:fillRect l="-173384" t="-53306" r="-162802" b="-116168"/>
            </a:stretch>
          </a:blipFill>
        </p:spPr>
      </p:sp>
      <p:sp>
        <p:nvSpPr>
          <p:cNvPr name="Freeform 35" id="35"/>
          <p:cNvSpPr/>
          <p:nvPr/>
        </p:nvSpPr>
        <p:spPr>
          <a:xfrm flipH="false" flipV="false" rot="0">
            <a:off x="6835714" y="8487691"/>
            <a:ext cx="934099" cy="393489"/>
          </a:xfrm>
          <a:custGeom>
            <a:avLst/>
            <a:gdLst/>
            <a:ahLst/>
            <a:cxnLst/>
            <a:rect r="r" b="b" t="t" l="l"/>
            <a:pathLst>
              <a:path h="393489" w="934099">
                <a:moveTo>
                  <a:pt x="0" y="0"/>
                </a:moveTo>
                <a:lnTo>
                  <a:pt x="934099" y="0"/>
                </a:lnTo>
                <a:lnTo>
                  <a:pt x="934099" y="393489"/>
                </a:lnTo>
                <a:lnTo>
                  <a:pt x="0" y="393489"/>
                </a:lnTo>
                <a:lnTo>
                  <a:pt x="0" y="0"/>
                </a:lnTo>
                <a:close/>
              </a:path>
            </a:pathLst>
          </a:custGeom>
          <a:blipFill>
            <a:blip r:embed="rId8"/>
            <a:stretch>
              <a:fillRect l="0" t="0" r="0" b="0"/>
            </a:stretch>
          </a:blipFill>
        </p:spPr>
      </p:sp>
      <p:sp>
        <p:nvSpPr>
          <p:cNvPr name="Freeform 36" id="36"/>
          <p:cNvSpPr/>
          <p:nvPr/>
        </p:nvSpPr>
        <p:spPr>
          <a:xfrm flipH="false" flipV="false" rot="0">
            <a:off x="7979363" y="8382455"/>
            <a:ext cx="1333745" cy="565631"/>
          </a:xfrm>
          <a:custGeom>
            <a:avLst/>
            <a:gdLst/>
            <a:ahLst/>
            <a:cxnLst/>
            <a:rect r="r" b="b" t="t" l="l"/>
            <a:pathLst>
              <a:path h="565631" w="1333745">
                <a:moveTo>
                  <a:pt x="0" y="0"/>
                </a:moveTo>
                <a:lnTo>
                  <a:pt x="1333745" y="0"/>
                </a:lnTo>
                <a:lnTo>
                  <a:pt x="1333745" y="565631"/>
                </a:lnTo>
                <a:lnTo>
                  <a:pt x="0" y="565631"/>
                </a:lnTo>
                <a:lnTo>
                  <a:pt x="0" y="0"/>
                </a:lnTo>
                <a:close/>
              </a:path>
            </a:pathLst>
          </a:custGeom>
          <a:blipFill>
            <a:blip r:embed="rId9"/>
            <a:stretch>
              <a:fillRect l="0" t="0" r="0" b="-27036"/>
            </a:stretch>
          </a:blipFill>
        </p:spPr>
      </p:sp>
      <p:sp>
        <p:nvSpPr>
          <p:cNvPr name="Freeform 37" id="37"/>
          <p:cNvSpPr/>
          <p:nvPr/>
        </p:nvSpPr>
        <p:spPr>
          <a:xfrm flipH="false" flipV="false" rot="0">
            <a:off x="9617908" y="8397410"/>
            <a:ext cx="523775" cy="523775"/>
          </a:xfrm>
          <a:custGeom>
            <a:avLst/>
            <a:gdLst/>
            <a:ahLst/>
            <a:cxnLst/>
            <a:rect r="r" b="b" t="t" l="l"/>
            <a:pathLst>
              <a:path h="523775" w="523775">
                <a:moveTo>
                  <a:pt x="0" y="0"/>
                </a:moveTo>
                <a:lnTo>
                  <a:pt x="523774" y="0"/>
                </a:lnTo>
                <a:lnTo>
                  <a:pt x="523774" y="523775"/>
                </a:lnTo>
                <a:lnTo>
                  <a:pt x="0" y="523775"/>
                </a:lnTo>
                <a:lnTo>
                  <a:pt x="0" y="0"/>
                </a:lnTo>
                <a:close/>
              </a:path>
            </a:pathLst>
          </a:custGeom>
          <a:blipFill>
            <a:blip r:embed="rId10"/>
            <a:stretch>
              <a:fillRect l="0" t="0" r="0" b="0"/>
            </a:stretch>
          </a:blipFill>
        </p:spPr>
      </p:sp>
      <p:sp>
        <p:nvSpPr>
          <p:cNvPr name="Freeform 38" id="38"/>
          <p:cNvSpPr/>
          <p:nvPr/>
        </p:nvSpPr>
        <p:spPr>
          <a:xfrm flipH="false" flipV="false" rot="0">
            <a:off x="10427432" y="8541363"/>
            <a:ext cx="1663631" cy="286144"/>
          </a:xfrm>
          <a:custGeom>
            <a:avLst/>
            <a:gdLst/>
            <a:ahLst/>
            <a:cxnLst/>
            <a:rect r="r" b="b" t="t" l="l"/>
            <a:pathLst>
              <a:path h="286144" w="1663631">
                <a:moveTo>
                  <a:pt x="0" y="0"/>
                </a:moveTo>
                <a:lnTo>
                  <a:pt x="1663631" y="0"/>
                </a:lnTo>
                <a:lnTo>
                  <a:pt x="1663631" y="286144"/>
                </a:lnTo>
                <a:lnTo>
                  <a:pt x="0" y="286144"/>
                </a:lnTo>
                <a:lnTo>
                  <a:pt x="0" y="0"/>
                </a:lnTo>
                <a:close/>
              </a:path>
            </a:pathLst>
          </a:custGeom>
          <a:blipFill>
            <a:blip r:embed="rId11"/>
            <a:stretch>
              <a:fillRect l="0" t="0" r="0" b="0"/>
            </a:stretch>
          </a:blipFill>
        </p:spPr>
      </p:sp>
      <p:sp>
        <p:nvSpPr>
          <p:cNvPr name="TextBox 39" id="39"/>
          <p:cNvSpPr txBox="true"/>
          <p:nvPr/>
        </p:nvSpPr>
        <p:spPr>
          <a:xfrm rot="0">
            <a:off x="8485691" y="9267825"/>
            <a:ext cx="6904130" cy="302895"/>
          </a:xfrm>
          <a:prstGeom prst="rect">
            <a:avLst/>
          </a:prstGeom>
        </p:spPr>
        <p:txBody>
          <a:bodyPr anchor="t" rtlCol="false" tIns="0" lIns="0" bIns="0" rIns="0">
            <a:spAutoFit/>
          </a:bodyPr>
          <a:lstStyle/>
          <a:p>
            <a:pPr algn="r">
              <a:lnSpc>
                <a:spcPts val="2310"/>
              </a:lnSpc>
            </a:pPr>
            <a:r>
              <a:rPr lang="en-US" sz="2100">
                <a:solidFill>
                  <a:srgbClr val="253439"/>
                </a:solidFill>
                <a:latin typeface="Lato"/>
                <a:ea typeface="Lato"/>
                <a:cs typeface="Lato"/>
                <a:sym typeface="Lato"/>
              </a:rPr>
              <a:t>Conçu pour le groupe</a:t>
            </a:r>
          </a:p>
        </p:txBody>
      </p:sp>
      <p:sp>
        <p:nvSpPr>
          <p:cNvPr name="TextBox 40" id="40"/>
          <p:cNvSpPr txBox="true"/>
          <p:nvPr/>
        </p:nvSpPr>
        <p:spPr>
          <a:xfrm rot="0">
            <a:off x="2123779" y="1115568"/>
            <a:ext cx="8457083" cy="588645"/>
          </a:xfrm>
          <a:prstGeom prst="rect">
            <a:avLst/>
          </a:prstGeom>
        </p:spPr>
        <p:txBody>
          <a:bodyPr anchor="t" rtlCol="false" tIns="0" lIns="0" bIns="0" rIns="0">
            <a:spAutoFit/>
          </a:bodyPr>
          <a:lstStyle/>
          <a:p>
            <a:pPr algn="just">
              <a:lnSpc>
                <a:spcPts val="2310"/>
              </a:lnSpc>
            </a:pPr>
            <a:r>
              <a:rPr lang="en-US" sz="2100" b="true">
                <a:solidFill>
                  <a:srgbClr val="253439"/>
                </a:solidFill>
                <a:latin typeface="Lato Bold"/>
                <a:ea typeface="Lato Bold"/>
                <a:cs typeface="Lato Bold"/>
                <a:sym typeface="Lato Bold"/>
              </a:rPr>
              <a:t>WABI SABI</a:t>
            </a:r>
            <a:r>
              <a:rPr lang="en-US" sz="2100">
                <a:solidFill>
                  <a:srgbClr val="253439"/>
                </a:solidFill>
                <a:latin typeface="Lato"/>
                <a:ea typeface="Lato"/>
                <a:cs typeface="Lato"/>
                <a:sym typeface="Lato"/>
              </a:rPr>
              <a:t>    Former · Automatiser · Transformer</a:t>
            </a:r>
          </a:p>
          <a:p>
            <a:pPr algn="r">
              <a:lnSpc>
                <a:spcPts val="2310"/>
              </a:lnSpc>
            </a:pPr>
          </a:p>
        </p:txBody>
      </p:sp>
      <p:sp>
        <p:nvSpPr>
          <p:cNvPr name="TextBox 41" id="41"/>
          <p:cNvSpPr txBox="true"/>
          <p:nvPr/>
        </p:nvSpPr>
        <p:spPr>
          <a:xfrm rot="0">
            <a:off x="2123779" y="7823099"/>
            <a:ext cx="2447776" cy="339725"/>
          </a:xfrm>
          <a:prstGeom prst="rect">
            <a:avLst/>
          </a:prstGeom>
        </p:spPr>
        <p:txBody>
          <a:bodyPr anchor="t" rtlCol="false" tIns="0" lIns="0" bIns="0" rIns="0">
            <a:spAutoFit/>
          </a:bodyPr>
          <a:lstStyle/>
          <a:p>
            <a:pPr algn="ctr">
              <a:lnSpc>
                <a:spcPts val="2799"/>
              </a:lnSpc>
              <a:spcBef>
                <a:spcPct val="0"/>
              </a:spcBef>
            </a:pPr>
            <a:r>
              <a:rPr lang="en-US" sz="1999" spc="-39">
                <a:solidFill>
                  <a:srgbClr val="253439"/>
                </a:solidFill>
                <a:latin typeface="Lato"/>
                <a:ea typeface="Lato"/>
                <a:cs typeface="Lato"/>
                <a:sym typeface="Lato"/>
              </a:rPr>
              <a:t>Ils nous font confiance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6F4F1"/>
        </a:solidFill>
      </p:bgPr>
    </p:bg>
    <p:spTree>
      <p:nvGrpSpPr>
        <p:cNvPr id="1" name=""/>
        <p:cNvGrpSpPr/>
        <p:nvPr/>
      </p:nvGrpSpPr>
      <p:grpSpPr>
        <a:xfrm>
          <a:off x="0" y="0"/>
          <a:ext cx="0" cy="0"/>
          <a:chOff x="0" y="0"/>
          <a:chExt cx="0" cy="0"/>
        </a:xfrm>
      </p:grpSpPr>
      <p:grpSp>
        <p:nvGrpSpPr>
          <p:cNvPr name="Group 2" id="2"/>
          <p:cNvGrpSpPr/>
          <p:nvPr/>
        </p:nvGrpSpPr>
        <p:grpSpPr>
          <a:xfrm rot="0">
            <a:off x="10646583" y="0"/>
            <a:ext cx="6090065" cy="8316606"/>
            <a:chOff x="0" y="0"/>
            <a:chExt cx="943510" cy="1288460"/>
          </a:xfrm>
        </p:grpSpPr>
        <p:sp>
          <p:nvSpPr>
            <p:cNvPr name="Freeform 3" id="3"/>
            <p:cNvSpPr/>
            <p:nvPr/>
          </p:nvSpPr>
          <p:spPr>
            <a:xfrm flipH="false" flipV="false" rot="0">
              <a:off x="0" y="0"/>
              <a:ext cx="943511" cy="1288460"/>
            </a:xfrm>
            <a:custGeom>
              <a:avLst/>
              <a:gdLst/>
              <a:ahLst/>
              <a:cxnLst/>
              <a:rect r="r" b="b" t="t" l="l"/>
              <a:pathLst>
                <a:path h="1288460" w="943511">
                  <a:moveTo>
                    <a:pt x="0" y="0"/>
                  </a:moveTo>
                  <a:lnTo>
                    <a:pt x="943511" y="0"/>
                  </a:lnTo>
                  <a:lnTo>
                    <a:pt x="943511" y="1288460"/>
                  </a:lnTo>
                  <a:lnTo>
                    <a:pt x="0" y="1288460"/>
                  </a:lnTo>
                  <a:close/>
                </a:path>
              </a:pathLst>
            </a:custGeom>
            <a:blipFill>
              <a:blip r:embed="rId2"/>
              <a:stretch>
                <a:fillRect l="-52484" t="0" r="-52484" b="0"/>
              </a:stretch>
            </a:blipFill>
          </p:spPr>
        </p:sp>
      </p:grpSp>
      <p:sp>
        <p:nvSpPr>
          <p:cNvPr name="TextBox 4" id="4"/>
          <p:cNvSpPr txBox="true"/>
          <p:nvPr/>
        </p:nvSpPr>
        <p:spPr>
          <a:xfrm rot="0">
            <a:off x="2273425" y="5105400"/>
            <a:ext cx="7592648" cy="692150"/>
          </a:xfrm>
          <a:prstGeom prst="rect">
            <a:avLst/>
          </a:prstGeom>
        </p:spPr>
        <p:txBody>
          <a:bodyPr anchor="t" rtlCol="false" tIns="0" lIns="0" bIns="0" rIns="0">
            <a:spAutoFit/>
          </a:bodyPr>
          <a:lstStyle/>
          <a:p>
            <a:pPr algn="just" marL="0" indent="0" lvl="0">
              <a:lnSpc>
                <a:spcPts val="2799"/>
              </a:lnSpc>
              <a:spcBef>
                <a:spcPct val="0"/>
              </a:spcBef>
            </a:pPr>
            <a:r>
              <a:rPr lang="en-US" sz="1999" spc="-39">
                <a:solidFill>
                  <a:srgbClr val="1C191A"/>
                </a:solidFill>
                <a:latin typeface="Lato"/>
                <a:ea typeface="Lato"/>
                <a:cs typeface="Lato"/>
                <a:sym typeface="Lato"/>
              </a:rPr>
              <a:t>G</a:t>
            </a:r>
            <a:r>
              <a:rPr lang="en-US" sz="1999" spc="-39" strike="noStrike" u="none">
                <a:solidFill>
                  <a:srgbClr val="1C191A"/>
                </a:solidFill>
                <a:latin typeface="Lato"/>
                <a:ea typeface="Lato"/>
                <a:cs typeface="Lato"/>
                <a:sym typeface="Lato"/>
              </a:rPr>
              <a:t>agner du tem</a:t>
            </a:r>
            <a:r>
              <a:rPr lang="en-US" sz="1999" spc="-39" strike="noStrike" u="none">
                <a:solidFill>
                  <a:srgbClr val="1C191A"/>
                </a:solidFill>
                <a:latin typeface="Lato"/>
                <a:ea typeface="Lato"/>
                <a:cs typeface="Lato"/>
                <a:sym typeface="Lato"/>
              </a:rPr>
              <a:t>ps</a:t>
            </a:r>
            <a:r>
              <a:rPr lang="en-US" sz="1999" spc="-39" strike="noStrike" u="none">
                <a:solidFill>
                  <a:srgbClr val="1C191A"/>
                </a:solidFill>
                <a:latin typeface="Lato"/>
                <a:ea typeface="Lato"/>
                <a:cs typeface="Lato"/>
                <a:sym typeface="Lato"/>
              </a:rPr>
              <a:t> sur les tâc</a:t>
            </a:r>
            <a:r>
              <a:rPr lang="en-US" sz="1999" spc="-39" strike="noStrike" u="none">
                <a:solidFill>
                  <a:srgbClr val="1C191A"/>
                </a:solidFill>
                <a:latin typeface="Lato"/>
                <a:ea typeface="Lato"/>
                <a:cs typeface="Lato"/>
                <a:sym typeface="Lato"/>
              </a:rPr>
              <a:t>h</a:t>
            </a:r>
            <a:r>
              <a:rPr lang="en-US" sz="1999" spc="-39" strike="noStrike" u="none">
                <a:solidFill>
                  <a:srgbClr val="1C191A"/>
                </a:solidFill>
                <a:latin typeface="Lato"/>
                <a:ea typeface="Lato"/>
                <a:cs typeface="Lato"/>
                <a:sym typeface="Lato"/>
              </a:rPr>
              <a:t>es quotid</a:t>
            </a:r>
            <a:r>
              <a:rPr lang="en-US" sz="1999" spc="-39" strike="noStrike" u="none">
                <a:solidFill>
                  <a:srgbClr val="1C191A"/>
                </a:solidFill>
                <a:latin typeface="Lato"/>
                <a:ea typeface="Lato"/>
                <a:cs typeface="Lato"/>
                <a:sym typeface="Lato"/>
              </a:rPr>
              <a:t>i</a:t>
            </a:r>
            <a:r>
              <a:rPr lang="en-US" sz="1999" spc="-39" strike="noStrike" u="none">
                <a:solidFill>
                  <a:srgbClr val="1C191A"/>
                </a:solidFill>
                <a:latin typeface="Lato"/>
                <a:ea typeface="Lato"/>
                <a:cs typeface="Lato"/>
                <a:sym typeface="Lato"/>
              </a:rPr>
              <a:t>enne p</a:t>
            </a:r>
            <a:r>
              <a:rPr lang="en-US" sz="1999" spc="-39" strike="noStrike" u="none">
                <a:solidFill>
                  <a:srgbClr val="1C191A"/>
                </a:solidFill>
                <a:latin typeface="Lato"/>
                <a:ea typeface="Lato"/>
                <a:cs typeface="Lato"/>
                <a:sym typeface="Lato"/>
              </a:rPr>
              <a:t>o</a:t>
            </a:r>
            <a:r>
              <a:rPr lang="en-US" sz="1999" spc="-39" strike="noStrike" u="none">
                <a:solidFill>
                  <a:srgbClr val="1C191A"/>
                </a:solidFill>
                <a:latin typeface="Lato"/>
                <a:ea typeface="Lato"/>
                <a:cs typeface="Lato"/>
                <a:sym typeface="Lato"/>
              </a:rPr>
              <a:t>u</a:t>
            </a:r>
            <a:r>
              <a:rPr lang="en-US" sz="1999" spc="-39" strike="noStrike" u="none">
                <a:solidFill>
                  <a:srgbClr val="1C191A"/>
                </a:solidFill>
                <a:latin typeface="Lato"/>
                <a:ea typeface="Lato"/>
                <a:cs typeface="Lato"/>
                <a:sym typeface="Lato"/>
              </a:rPr>
              <a:t>r</a:t>
            </a:r>
            <a:r>
              <a:rPr lang="en-US" sz="1999" spc="-39" strike="noStrike" u="none">
                <a:solidFill>
                  <a:srgbClr val="1C191A"/>
                </a:solidFill>
                <a:latin typeface="Lato"/>
                <a:ea typeface="Lato"/>
                <a:cs typeface="Lato"/>
                <a:sym typeface="Lato"/>
              </a:rPr>
              <a:t> </a:t>
            </a:r>
            <a:r>
              <a:rPr lang="en-US" sz="1999" spc="-39" strike="noStrike" u="none">
                <a:solidFill>
                  <a:srgbClr val="1C191A"/>
                </a:solidFill>
                <a:latin typeface="Lato"/>
                <a:ea typeface="Lato"/>
                <a:cs typeface="Lato"/>
                <a:sym typeface="Lato"/>
              </a:rPr>
              <a:t>p</a:t>
            </a:r>
            <a:r>
              <a:rPr lang="en-US" sz="1999" spc="-39" strike="noStrike" u="none">
                <a:solidFill>
                  <a:srgbClr val="1C191A"/>
                </a:solidFill>
                <a:latin typeface="Lato"/>
                <a:ea typeface="Lato"/>
                <a:cs typeface="Lato"/>
                <a:sym typeface="Lato"/>
              </a:rPr>
              <a:t>e</a:t>
            </a:r>
            <a:r>
              <a:rPr lang="en-US" sz="1999" spc="-39" strike="noStrike" u="none">
                <a:solidFill>
                  <a:srgbClr val="1C191A"/>
                </a:solidFill>
                <a:latin typeface="Lato"/>
                <a:ea typeface="Lato"/>
                <a:cs typeface="Lato"/>
                <a:sym typeface="Lato"/>
              </a:rPr>
              <a:t>r</a:t>
            </a:r>
            <a:r>
              <a:rPr lang="en-US" sz="1999" spc="-39" strike="noStrike" u="none">
                <a:solidFill>
                  <a:srgbClr val="1C191A"/>
                </a:solidFill>
                <a:latin typeface="Lato"/>
                <a:ea typeface="Lato"/>
                <a:cs typeface="Lato"/>
                <a:sym typeface="Lato"/>
              </a:rPr>
              <a:t>mett</a:t>
            </a:r>
            <a:r>
              <a:rPr lang="en-US" sz="1999" spc="-39" strike="noStrike" u="none">
                <a:solidFill>
                  <a:srgbClr val="1C191A"/>
                </a:solidFill>
                <a:latin typeface="Lato"/>
                <a:ea typeface="Lato"/>
                <a:cs typeface="Lato"/>
                <a:sym typeface="Lato"/>
              </a:rPr>
              <a:t>r</a:t>
            </a:r>
            <a:r>
              <a:rPr lang="en-US" sz="1999" spc="-39" strike="noStrike" u="none">
                <a:solidFill>
                  <a:srgbClr val="1C191A"/>
                </a:solidFill>
                <a:latin typeface="Lato"/>
                <a:ea typeface="Lato"/>
                <a:cs typeface="Lato"/>
                <a:sym typeface="Lato"/>
              </a:rPr>
              <a:t>e au</a:t>
            </a:r>
            <a:r>
              <a:rPr lang="en-US" sz="1999" spc="-39" strike="noStrike" u="none">
                <a:solidFill>
                  <a:srgbClr val="1C191A"/>
                </a:solidFill>
                <a:latin typeface="Lato"/>
                <a:ea typeface="Lato"/>
                <a:cs typeface="Lato"/>
                <a:sym typeface="Lato"/>
              </a:rPr>
              <a:t>x</a:t>
            </a:r>
            <a:r>
              <a:rPr lang="en-US" sz="1999" spc="-39" strike="noStrike" u="none">
                <a:solidFill>
                  <a:srgbClr val="1C191A"/>
                </a:solidFill>
                <a:latin typeface="Lato"/>
                <a:ea typeface="Lato"/>
                <a:cs typeface="Lato"/>
                <a:sym typeface="Lato"/>
              </a:rPr>
              <a:t> </a:t>
            </a:r>
            <a:r>
              <a:rPr lang="en-US" sz="1999" spc="-39" strike="noStrike" u="none">
                <a:solidFill>
                  <a:srgbClr val="1C191A"/>
                </a:solidFill>
                <a:latin typeface="Lato"/>
                <a:ea typeface="Lato"/>
                <a:cs typeface="Lato"/>
                <a:sym typeface="Lato"/>
              </a:rPr>
              <a:t>éq</a:t>
            </a:r>
            <a:r>
              <a:rPr lang="en-US" sz="1999" spc="-39" strike="noStrike" u="none">
                <a:solidFill>
                  <a:srgbClr val="1C191A"/>
                </a:solidFill>
                <a:latin typeface="Lato"/>
                <a:ea typeface="Lato"/>
                <a:cs typeface="Lato"/>
                <a:sym typeface="Lato"/>
              </a:rPr>
              <a:t>uip</a:t>
            </a:r>
            <a:r>
              <a:rPr lang="en-US" sz="1999" spc="-39" strike="noStrike" u="none">
                <a:solidFill>
                  <a:srgbClr val="1C191A"/>
                </a:solidFill>
                <a:latin typeface="Lato"/>
                <a:ea typeface="Lato"/>
                <a:cs typeface="Lato"/>
                <a:sym typeface="Lato"/>
              </a:rPr>
              <a:t>e</a:t>
            </a:r>
            <a:r>
              <a:rPr lang="en-US" sz="1999" spc="-39" strike="noStrike" u="none">
                <a:solidFill>
                  <a:srgbClr val="1C191A"/>
                </a:solidFill>
                <a:latin typeface="Lato"/>
                <a:ea typeface="Lato"/>
                <a:cs typeface="Lato"/>
                <a:sym typeface="Lato"/>
              </a:rPr>
              <a:t>s </a:t>
            </a:r>
            <a:r>
              <a:rPr lang="en-US" sz="1999" spc="-39" strike="noStrike" u="none">
                <a:solidFill>
                  <a:srgbClr val="1C191A"/>
                </a:solidFill>
                <a:latin typeface="Lato"/>
                <a:ea typeface="Lato"/>
                <a:cs typeface="Lato"/>
                <a:sym typeface="Lato"/>
              </a:rPr>
              <a:t>d</a:t>
            </a:r>
            <a:r>
              <a:rPr lang="en-US" sz="1999" spc="-39" strike="noStrike" u="none">
                <a:solidFill>
                  <a:srgbClr val="1C191A"/>
                </a:solidFill>
                <a:latin typeface="Lato"/>
                <a:ea typeface="Lato"/>
                <a:cs typeface="Lato"/>
                <a:sym typeface="Lato"/>
              </a:rPr>
              <a:t>e s</a:t>
            </a:r>
            <a:r>
              <a:rPr lang="en-US" sz="1999" spc="-39" strike="noStrike" u="none">
                <a:solidFill>
                  <a:srgbClr val="1C191A"/>
                </a:solidFill>
                <a:latin typeface="Lato"/>
                <a:ea typeface="Lato"/>
                <a:cs typeface="Lato"/>
                <a:sym typeface="Lato"/>
              </a:rPr>
              <a:t>e</a:t>
            </a:r>
            <a:r>
              <a:rPr lang="en-US" sz="1999" spc="-39" strike="noStrike" u="none">
                <a:solidFill>
                  <a:srgbClr val="1C191A"/>
                </a:solidFill>
                <a:latin typeface="Lato"/>
                <a:ea typeface="Lato"/>
                <a:cs typeface="Lato"/>
                <a:sym typeface="Lato"/>
              </a:rPr>
              <a:t> f</a:t>
            </a:r>
            <a:r>
              <a:rPr lang="en-US" sz="1999" spc="-39" strike="noStrike" u="none">
                <a:solidFill>
                  <a:srgbClr val="1C191A"/>
                </a:solidFill>
                <a:latin typeface="Lato"/>
                <a:ea typeface="Lato"/>
                <a:cs typeface="Lato"/>
                <a:sym typeface="Lato"/>
              </a:rPr>
              <a:t>oca</a:t>
            </a:r>
            <a:r>
              <a:rPr lang="en-US" sz="1999" spc="-39" strike="noStrike" u="none">
                <a:solidFill>
                  <a:srgbClr val="1C191A"/>
                </a:solidFill>
                <a:latin typeface="Lato"/>
                <a:ea typeface="Lato"/>
                <a:cs typeface="Lato"/>
                <a:sym typeface="Lato"/>
              </a:rPr>
              <a:t>lise</a:t>
            </a:r>
            <a:r>
              <a:rPr lang="en-US" sz="1999" spc="-39" strike="noStrike" u="none">
                <a:solidFill>
                  <a:srgbClr val="1C191A"/>
                </a:solidFill>
                <a:latin typeface="Lato"/>
                <a:ea typeface="Lato"/>
                <a:cs typeface="Lato"/>
                <a:sym typeface="Lato"/>
              </a:rPr>
              <a:t>r</a:t>
            </a:r>
            <a:r>
              <a:rPr lang="en-US" sz="1999" spc="-39" strike="noStrike" u="none">
                <a:solidFill>
                  <a:srgbClr val="1C191A"/>
                </a:solidFill>
                <a:latin typeface="Lato"/>
                <a:ea typeface="Lato"/>
                <a:cs typeface="Lato"/>
                <a:sym typeface="Lato"/>
              </a:rPr>
              <a:t> </a:t>
            </a:r>
            <a:r>
              <a:rPr lang="en-US" sz="1999" spc="-39" strike="noStrike" u="none">
                <a:solidFill>
                  <a:srgbClr val="1C191A"/>
                </a:solidFill>
                <a:latin typeface="Lato"/>
                <a:ea typeface="Lato"/>
                <a:cs typeface="Lato"/>
                <a:sym typeface="Lato"/>
              </a:rPr>
              <a:t>s</a:t>
            </a:r>
            <a:r>
              <a:rPr lang="en-US" sz="1999" spc="-39" strike="noStrike" u="none">
                <a:solidFill>
                  <a:srgbClr val="1C191A"/>
                </a:solidFill>
                <a:latin typeface="Lato"/>
                <a:ea typeface="Lato"/>
                <a:cs typeface="Lato"/>
                <a:sym typeface="Lato"/>
              </a:rPr>
              <a:t>ur leur coeur </a:t>
            </a:r>
            <a:r>
              <a:rPr lang="en-US" sz="1999" spc="-39" strike="noStrike" u="none">
                <a:solidFill>
                  <a:srgbClr val="1C191A"/>
                </a:solidFill>
                <a:latin typeface="Lato"/>
                <a:ea typeface="Lato"/>
                <a:cs typeface="Lato"/>
                <a:sym typeface="Lato"/>
              </a:rPr>
              <a:t>d</a:t>
            </a:r>
            <a:r>
              <a:rPr lang="en-US" sz="1999" spc="-39" strike="noStrike" u="none">
                <a:solidFill>
                  <a:srgbClr val="1C191A"/>
                </a:solidFill>
                <a:latin typeface="Lato"/>
                <a:ea typeface="Lato"/>
                <a:cs typeface="Lato"/>
                <a:sym typeface="Lato"/>
              </a:rPr>
              <a:t>e métier.</a:t>
            </a:r>
          </a:p>
        </p:txBody>
      </p:sp>
      <p:sp>
        <p:nvSpPr>
          <p:cNvPr name="TextBox 5" id="5"/>
          <p:cNvSpPr txBox="true"/>
          <p:nvPr/>
        </p:nvSpPr>
        <p:spPr>
          <a:xfrm rot="0">
            <a:off x="1511786" y="1984318"/>
            <a:ext cx="7486517" cy="2079626"/>
          </a:xfrm>
          <a:prstGeom prst="rect">
            <a:avLst/>
          </a:prstGeom>
        </p:spPr>
        <p:txBody>
          <a:bodyPr anchor="t" rtlCol="false" tIns="0" lIns="0" bIns="0" rIns="0">
            <a:spAutoFit/>
          </a:bodyPr>
          <a:lstStyle/>
          <a:p>
            <a:pPr algn="l" marL="0" indent="0" lvl="0">
              <a:lnSpc>
                <a:spcPts val="8000"/>
              </a:lnSpc>
              <a:spcBef>
                <a:spcPct val="0"/>
              </a:spcBef>
            </a:pPr>
            <a:r>
              <a:rPr lang="en-US" sz="8000">
                <a:solidFill>
                  <a:srgbClr val="253439"/>
                </a:solidFill>
                <a:latin typeface="Lato"/>
                <a:ea typeface="Lato"/>
                <a:cs typeface="Lato"/>
                <a:sym typeface="Lato"/>
              </a:rPr>
              <a:t>Pourquoi maintenant ?</a:t>
            </a:r>
          </a:p>
        </p:txBody>
      </p:sp>
      <p:sp>
        <p:nvSpPr>
          <p:cNvPr name="TextBox 6" id="6"/>
          <p:cNvSpPr txBox="true"/>
          <p:nvPr/>
        </p:nvSpPr>
        <p:spPr>
          <a:xfrm rot="0">
            <a:off x="2273425" y="6303599"/>
            <a:ext cx="7592648" cy="339725"/>
          </a:xfrm>
          <a:prstGeom prst="rect">
            <a:avLst/>
          </a:prstGeom>
        </p:spPr>
        <p:txBody>
          <a:bodyPr anchor="t" rtlCol="false" tIns="0" lIns="0" bIns="0" rIns="0">
            <a:spAutoFit/>
          </a:bodyPr>
          <a:lstStyle/>
          <a:p>
            <a:pPr algn="just" marL="0" indent="0" lvl="0">
              <a:lnSpc>
                <a:spcPts val="2799"/>
              </a:lnSpc>
              <a:spcBef>
                <a:spcPct val="0"/>
              </a:spcBef>
            </a:pPr>
            <a:r>
              <a:rPr lang="en-US" sz="1999" spc="-39">
                <a:solidFill>
                  <a:srgbClr val="1C191A"/>
                </a:solidFill>
                <a:latin typeface="Lato"/>
                <a:ea typeface="Lato"/>
                <a:cs typeface="Lato"/>
                <a:sym typeface="Lato"/>
              </a:rPr>
              <a:t>Piloter, communiquer et décider efficacement grâce à la data</a:t>
            </a:r>
          </a:p>
        </p:txBody>
      </p:sp>
      <p:sp>
        <p:nvSpPr>
          <p:cNvPr name="TextBox 7" id="7"/>
          <p:cNvSpPr txBox="true"/>
          <p:nvPr/>
        </p:nvSpPr>
        <p:spPr>
          <a:xfrm rot="0">
            <a:off x="2273425" y="7100524"/>
            <a:ext cx="7592648" cy="339725"/>
          </a:xfrm>
          <a:prstGeom prst="rect">
            <a:avLst/>
          </a:prstGeom>
        </p:spPr>
        <p:txBody>
          <a:bodyPr anchor="t" rtlCol="false" tIns="0" lIns="0" bIns="0" rIns="0">
            <a:spAutoFit/>
          </a:bodyPr>
          <a:lstStyle/>
          <a:p>
            <a:pPr algn="just" marL="0" indent="0" lvl="0">
              <a:lnSpc>
                <a:spcPts val="2799"/>
              </a:lnSpc>
              <a:spcBef>
                <a:spcPct val="0"/>
              </a:spcBef>
            </a:pPr>
            <a:r>
              <a:rPr lang="en-US" sz="1999" spc="-39">
                <a:solidFill>
                  <a:srgbClr val="1C191A"/>
                </a:solidFill>
                <a:latin typeface="Lato"/>
                <a:ea typeface="Lato"/>
                <a:cs typeface="Lato"/>
                <a:sym typeface="Lato"/>
              </a:rPr>
              <a:t>Créer des outils sur-mesure pour optimiser les processus</a:t>
            </a:r>
          </a:p>
        </p:txBody>
      </p:sp>
      <p:sp>
        <p:nvSpPr>
          <p:cNvPr name="TextBox 8" id="8"/>
          <p:cNvSpPr txBox="true"/>
          <p:nvPr/>
        </p:nvSpPr>
        <p:spPr>
          <a:xfrm rot="0">
            <a:off x="1594946" y="4319230"/>
            <a:ext cx="7592648" cy="382270"/>
          </a:xfrm>
          <a:prstGeom prst="rect">
            <a:avLst/>
          </a:prstGeom>
        </p:spPr>
        <p:txBody>
          <a:bodyPr anchor="t" rtlCol="false" tIns="0" lIns="0" bIns="0" rIns="0">
            <a:spAutoFit/>
          </a:bodyPr>
          <a:lstStyle/>
          <a:p>
            <a:pPr algn="just" marL="0" indent="0" lvl="0">
              <a:lnSpc>
                <a:spcPts val="3079"/>
              </a:lnSpc>
              <a:spcBef>
                <a:spcPct val="0"/>
              </a:spcBef>
            </a:pPr>
            <a:r>
              <a:rPr lang="en-US" sz="2199" spc="-43">
                <a:solidFill>
                  <a:srgbClr val="1C191A"/>
                </a:solidFill>
                <a:latin typeface="Lato"/>
                <a:ea typeface="Lato"/>
                <a:cs typeface="Lato"/>
                <a:sym typeface="Lato"/>
              </a:rPr>
              <a:t>L’IA comme vecteur de votre productivité et de votre qualité:</a:t>
            </a:r>
          </a:p>
        </p:txBody>
      </p:sp>
      <p:sp>
        <p:nvSpPr>
          <p:cNvPr name="TextBox 9" id="9"/>
          <p:cNvSpPr txBox="true"/>
          <p:nvPr/>
        </p:nvSpPr>
        <p:spPr>
          <a:xfrm rot="0">
            <a:off x="672270" y="5027884"/>
            <a:ext cx="1444016" cy="491490"/>
          </a:xfrm>
          <a:prstGeom prst="rect">
            <a:avLst/>
          </a:prstGeom>
        </p:spPr>
        <p:txBody>
          <a:bodyPr anchor="t" rtlCol="false" tIns="0" lIns="0" bIns="0" rIns="0">
            <a:spAutoFit/>
          </a:bodyPr>
          <a:lstStyle/>
          <a:p>
            <a:pPr algn="r" marL="0" indent="0" lvl="0">
              <a:lnSpc>
                <a:spcPts val="3600"/>
              </a:lnSpc>
              <a:spcBef>
                <a:spcPct val="0"/>
              </a:spcBef>
            </a:pPr>
            <a:r>
              <a:rPr lang="en-US" sz="3600">
                <a:solidFill>
                  <a:srgbClr val="7C898B"/>
                </a:solidFill>
                <a:latin typeface="Lato"/>
                <a:ea typeface="Lato"/>
                <a:cs typeface="Lato"/>
                <a:sym typeface="Lato"/>
              </a:rPr>
              <a:t>0</a:t>
            </a:r>
            <a:r>
              <a:rPr lang="en-US" sz="3600" strike="noStrike" u="none">
                <a:solidFill>
                  <a:srgbClr val="7C898B"/>
                </a:solidFill>
                <a:latin typeface="Lato"/>
                <a:ea typeface="Lato"/>
                <a:cs typeface="Lato"/>
                <a:sym typeface="Lato"/>
              </a:rPr>
              <a:t>1</a:t>
            </a:r>
          </a:p>
        </p:txBody>
      </p:sp>
      <p:sp>
        <p:nvSpPr>
          <p:cNvPr name="TextBox 10" id="10"/>
          <p:cNvSpPr txBox="true"/>
          <p:nvPr/>
        </p:nvSpPr>
        <p:spPr>
          <a:xfrm rot="0">
            <a:off x="672270" y="6199459"/>
            <a:ext cx="1444016" cy="491490"/>
          </a:xfrm>
          <a:prstGeom prst="rect">
            <a:avLst/>
          </a:prstGeom>
        </p:spPr>
        <p:txBody>
          <a:bodyPr anchor="t" rtlCol="false" tIns="0" lIns="0" bIns="0" rIns="0">
            <a:spAutoFit/>
          </a:bodyPr>
          <a:lstStyle/>
          <a:p>
            <a:pPr algn="r" marL="0" indent="0" lvl="0">
              <a:lnSpc>
                <a:spcPts val="3600"/>
              </a:lnSpc>
              <a:spcBef>
                <a:spcPct val="0"/>
              </a:spcBef>
            </a:pPr>
            <a:r>
              <a:rPr lang="en-US" sz="3600">
                <a:solidFill>
                  <a:srgbClr val="7C898B"/>
                </a:solidFill>
                <a:latin typeface="Lato"/>
                <a:ea typeface="Lato"/>
                <a:cs typeface="Lato"/>
                <a:sym typeface="Lato"/>
              </a:rPr>
              <a:t>02</a:t>
            </a:r>
          </a:p>
        </p:txBody>
      </p:sp>
      <p:sp>
        <p:nvSpPr>
          <p:cNvPr name="TextBox 11" id="11"/>
          <p:cNvSpPr txBox="true"/>
          <p:nvPr/>
        </p:nvSpPr>
        <p:spPr>
          <a:xfrm rot="0">
            <a:off x="672270" y="6995749"/>
            <a:ext cx="1444016" cy="491490"/>
          </a:xfrm>
          <a:prstGeom prst="rect">
            <a:avLst/>
          </a:prstGeom>
        </p:spPr>
        <p:txBody>
          <a:bodyPr anchor="t" rtlCol="false" tIns="0" lIns="0" bIns="0" rIns="0">
            <a:spAutoFit/>
          </a:bodyPr>
          <a:lstStyle/>
          <a:p>
            <a:pPr algn="r" marL="0" indent="0" lvl="0">
              <a:lnSpc>
                <a:spcPts val="3600"/>
              </a:lnSpc>
              <a:spcBef>
                <a:spcPct val="0"/>
              </a:spcBef>
            </a:pPr>
            <a:r>
              <a:rPr lang="en-US" sz="3600">
                <a:solidFill>
                  <a:srgbClr val="7C898B"/>
                </a:solidFill>
                <a:latin typeface="Lato"/>
                <a:ea typeface="Lato"/>
                <a:cs typeface="Lato"/>
                <a:sym typeface="Lato"/>
              </a:rPr>
              <a:t>03</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6F4F1"/>
        </a:solidFill>
      </p:bgPr>
    </p:bg>
    <p:spTree>
      <p:nvGrpSpPr>
        <p:cNvPr id="1" name=""/>
        <p:cNvGrpSpPr/>
        <p:nvPr/>
      </p:nvGrpSpPr>
      <p:grpSpPr>
        <a:xfrm>
          <a:off x="0" y="0"/>
          <a:ext cx="0" cy="0"/>
          <a:chOff x="0" y="0"/>
          <a:chExt cx="0" cy="0"/>
        </a:xfrm>
      </p:grpSpPr>
      <p:grpSp>
        <p:nvGrpSpPr>
          <p:cNvPr name="Group 2" id="2"/>
          <p:cNvGrpSpPr/>
          <p:nvPr/>
        </p:nvGrpSpPr>
        <p:grpSpPr>
          <a:xfrm rot="0">
            <a:off x="1656725" y="3059924"/>
            <a:ext cx="4268672" cy="2080703"/>
            <a:chOff x="0" y="0"/>
            <a:chExt cx="1638716" cy="798768"/>
          </a:xfrm>
        </p:grpSpPr>
        <p:sp>
          <p:nvSpPr>
            <p:cNvPr name="Freeform 3" id="3"/>
            <p:cNvSpPr/>
            <p:nvPr/>
          </p:nvSpPr>
          <p:spPr>
            <a:xfrm flipH="false" flipV="false" rot="0">
              <a:off x="0" y="0"/>
              <a:ext cx="1638716" cy="798768"/>
            </a:xfrm>
            <a:custGeom>
              <a:avLst/>
              <a:gdLst/>
              <a:ahLst/>
              <a:cxnLst/>
              <a:rect r="r" b="b" t="t" l="l"/>
              <a:pathLst>
                <a:path h="798768" w="1638716">
                  <a:moveTo>
                    <a:pt x="0" y="0"/>
                  </a:moveTo>
                  <a:lnTo>
                    <a:pt x="1638716" y="0"/>
                  </a:lnTo>
                  <a:lnTo>
                    <a:pt x="1638716" y="798768"/>
                  </a:lnTo>
                  <a:lnTo>
                    <a:pt x="0" y="798768"/>
                  </a:lnTo>
                  <a:close/>
                </a:path>
              </a:pathLst>
            </a:custGeom>
            <a:solidFill>
              <a:srgbClr val="FFFFFF"/>
            </a:solidFill>
            <a:ln w="19050" cap="sq">
              <a:solidFill>
                <a:srgbClr val="7C898B"/>
              </a:solidFill>
              <a:prstDash val="solid"/>
              <a:miter/>
            </a:ln>
          </p:spPr>
        </p:sp>
        <p:sp>
          <p:nvSpPr>
            <p:cNvPr name="TextBox 4" id="4"/>
            <p:cNvSpPr txBox="true"/>
            <p:nvPr/>
          </p:nvSpPr>
          <p:spPr>
            <a:xfrm>
              <a:off x="0" y="-38100"/>
              <a:ext cx="1638716" cy="836868"/>
            </a:xfrm>
            <a:prstGeom prst="rect">
              <a:avLst/>
            </a:prstGeom>
          </p:spPr>
          <p:txBody>
            <a:bodyPr anchor="ctr" rtlCol="false" tIns="50800" lIns="50800" bIns="50800" rIns="50800"/>
            <a:lstStyle/>
            <a:p>
              <a:pPr algn="ctr" marL="0" indent="0" lvl="0">
                <a:lnSpc>
                  <a:spcPts val="2799"/>
                </a:lnSpc>
                <a:spcBef>
                  <a:spcPct val="0"/>
                </a:spcBef>
              </a:pPr>
            </a:p>
          </p:txBody>
        </p:sp>
      </p:grpSp>
      <p:grpSp>
        <p:nvGrpSpPr>
          <p:cNvPr name="Group 5" id="5"/>
          <p:cNvGrpSpPr/>
          <p:nvPr/>
        </p:nvGrpSpPr>
        <p:grpSpPr>
          <a:xfrm rot="0">
            <a:off x="6207705" y="3059924"/>
            <a:ext cx="4268672" cy="2080703"/>
            <a:chOff x="0" y="0"/>
            <a:chExt cx="1638716" cy="798768"/>
          </a:xfrm>
        </p:grpSpPr>
        <p:sp>
          <p:nvSpPr>
            <p:cNvPr name="Freeform 6" id="6"/>
            <p:cNvSpPr/>
            <p:nvPr/>
          </p:nvSpPr>
          <p:spPr>
            <a:xfrm flipH="false" flipV="false" rot="0">
              <a:off x="0" y="0"/>
              <a:ext cx="1638716" cy="798768"/>
            </a:xfrm>
            <a:custGeom>
              <a:avLst/>
              <a:gdLst/>
              <a:ahLst/>
              <a:cxnLst/>
              <a:rect r="r" b="b" t="t" l="l"/>
              <a:pathLst>
                <a:path h="798768" w="1638716">
                  <a:moveTo>
                    <a:pt x="0" y="0"/>
                  </a:moveTo>
                  <a:lnTo>
                    <a:pt x="1638716" y="0"/>
                  </a:lnTo>
                  <a:lnTo>
                    <a:pt x="1638716" y="798768"/>
                  </a:lnTo>
                  <a:lnTo>
                    <a:pt x="0" y="798768"/>
                  </a:lnTo>
                  <a:close/>
                </a:path>
              </a:pathLst>
            </a:custGeom>
            <a:solidFill>
              <a:srgbClr val="FFFFFF"/>
            </a:solidFill>
            <a:ln w="19050" cap="sq">
              <a:solidFill>
                <a:srgbClr val="7C898B"/>
              </a:solidFill>
              <a:prstDash val="solid"/>
              <a:miter/>
            </a:ln>
          </p:spPr>
        </p:sp>
        <p:sp>
          <p:nvSpPr>
            <p:cNvPr name="TextBox 7" id="7"/>
            <p:cNvSpPr txBox="true"/>
            <p:nvPr/>
          </p:nvSpPr>
          <p:spPr>
            <a:xfrm>
              <a:off x="0" y="-38100"/>
              <a:ext cx="1638716" cy="836868"/>
            </a:xfrm>
            <a:prstGeom prst="rect">
              <a:avLst/>
            </a:prstGeom>
          </p:spPr>
          <p:txBody>
            <a:bodyPr anchor="ctr" rtlCol="false" tIns="50800" lIns="50800" bIns="50800" rIns="50800"/>
            <a:lstStyle/>
            <a:p>
              <a:pPr algn="ctr" marL="0" indent="0" lvl="0">
                <a:lnSpc>
                  <a:spcPts val="2799"/>
                </a:lnSpc>
                <a:spcBef>
                  <a:spcPct val="0"/>
                </a:spcBef>
              </a:pPr>
            </a:p>
          </p:txBody>
        </p:sp>
      </p:grpSp>
      <p:grpSp>
        <p:nvGrpSpPr>
          <p:cNvPr name="Group 8" id="8"/>
          <p:cNvGrpSpPr/>
          <p:nvPr/>
        </p:nvGrpSpPr>
        <p:grpSpPr>
          <a:xfrm rot="0">
            <a:off x="10743077" y="3059924"/>
            <a:ext cx="4268672" cy="2080703"/>
            <a:chOff x="0" y="0"/>
            <a:chExt cx="1638716" cy="798768"/>
          </a:xfrm>
        </p:grpSpPr>
        <p:sp>
          <p:nvSpPr>
            <p:cNvPr name="Freeform 9" id="9"/>
            <p:cNvSpPr/>
            <p:nvPr/>
          </p:nvSpPr>
          <p:spPr>
            <a:xfrm flipH="false" flipV="false" rot="0">
              <a:off x="0" y="0"/>
              <a:ext cx="1638716" cy="798768"/>
            </a:xfrm>
            <a:custGeom>
              <a:avLst/>
              <a:gdLst/>
              <a:ahLst/>
              <a:cxnLst/>
              <a:rect r="r" b="b" t="t" l="l"/>
              <a:pathLst>
                <a:path h="798768" w="1638716">
                  <a:moveTo>
                    <a:pt x="0" y="0"/>
                  </a:moveTo>
                  <a:lnTo>
                    <a:pt x="1638716" y="0"/>
                  </a:lnTo>
                  <a:lnTo>
                    <a:pt x="1638716" y="798768"/>
                  </a:lnTo>
                  <a:lnTo>
                    <a:pt x="0" y="798768"/>
                  </a:lnTo>
                  <a:close/>
                </a:path>
              </a:pathLst>
            </a:custGeom>
            <a:solidFill>
              <a:srgbClr val="FFFFFF"/>
            </a:solidFill>
            <a:ln w="19050" cap="sq">
              <a:solidFill>
                <a:srgbClr val="7C898B"/>
              </a:solidFill>
              <a:prstDash val="solid"/>
              <a:miter/>
            </a:ln>
          </p:spPr>
        </p:sp>
        <p:sp>
          <p:nvSpPr>
            <p:cNvPr name="TextBox 10" id="10"/>
            <p:cNvSpPr txBox="true"/>
            <p:nvPr/>
          </p:nvSpPr>
          <p:spPr>
            <a:xfrm>
              <a:off x="0" y="-38100"/>
              <a:ext cx="1638716" cy="836868"/>
            </a:xfrm>
            <a:prstGeom prst="rect">
              <a:avLst/>
            </a:prstGeom>
          </p:spPr>
          <p:txBody>
            <a:bodyPr anchor="ctr" rtlCol="false" tIns="50800" lIns="50800" bIns="50800" rIns="50800"/>
            <a:lstStyle/>
            <a:p>
              <a:pPr algn="ctr" marL="0" indent="0" lvl="0">
                <a:lnSpc>
                  <a:spcPts val="2799"/>
                </a:lnSpc>
                <a:spcBef>
                  <a:spcPct val="0"/>
                </a:spcBef>
              </a:pPr>
            </a:p>
          </p:txBody>
        </p:sp>
      </p:grpSp>
      <p:grpSp>
        <p:nvGrpSpPr>
          <p:cNvPr name="Group 11" id="11"/>
          <p:cNvGrpSpPr/>
          <p:nvPr/>
        </p:nvGrpSpPr>
        <p:grpSpPr>
          <a:xfrm rot="0">
            <a:off x="1656725" y="5363731"/>
            <a:ext cx="4268672" cy="2080703"/>
            <a:chOff x="0" y="0"/>
            <a:chExt cx="1638716" cy="798768"/>
          </a:xfrm>
        </p:grpSpPr>
        <p:sp>
          <p:nvSpPr>
            <p:cNvPr name="Freeform 12" id="12"/>
            <p:cNvSpPr/>
            <p:nvPr/>
          </p:nvSpPr>
          <p:spPr>
            <a:xfrm flipH="false" flipV="false" rot="0">
              <a:off x="0" y="0"/>
              <a:ext cx="1638716" cy="798768"/>
            </a:xfrm>
            <a:custGeom>
              <a:avLst/>
              <a:gdLst/>
              <a:ahLst/>
              <a:cxnLst/>
              <a:rect r="r" b="b" t="t" l="l"/>
              <a:pathLst>
                <a:path h="798768" w="1638716">
                  <a:moveTo>
                    <a:pt x="0" y="0"/>
                  </a:moveTo>
                  <a:lnTo>
                    <a:pt x="1638716" y="0"/>
                  </a:lnTo>
                  <a:lnTo>
                    <a:pt x="1638716" y="798768"/>
                  </a:lnTo>
                  <a:lnTo>
                    <a:pt x="0" y="798768"/>
                  </a:lnTo>
                  <a:close/>
                </a:path>
              </a:pathLst>
            </a:custGeom>
            <a:solidFill>
              <a:srgbClr val="FFFFFF"/>
            </a:solidFill>
            <a:ln w="19050" cap="sq">
              <a:solidFill>
                <a:srgbClr val="7C898B"/>
              </a:solidFill>
              <a:prstDash val="solid"/>
              <a:miter/>
            </a:ln>
          </p:spPr>
        </p:sp>
        <p:sp>
          <p:nvSpPr>
            <p:cNvPr name="TextBox 13" id="13"/>
            <p:cNvSpPr txBox="true"/>
            <p:nvPr/>
          </p:nvSpPr>
          <p:spPr>
            <a:xfrm>
              <a:off x="0" y="-38100"/>
              <a:ext cx="1638716" cy="836868"/>
            </a:xfrm>
            <a:prstGeom prst="rect">
              <a:avLst/>
            </a:prstGeom>
          </p:spPr>
          <p:txBody>
            <a:bodyPr anchor="ctr" rtlCol="false" tIns="50800" lIns="50800" bIns="50800" rIns="50800"/>
            <a:lstStyle/>
            <a:p>
              <a:pPr algn="ctr" marL="0" indent="0" lvl="0">
                <a:lnSpc>
                  <a:spcPts val="2799"/>
                </a:lnSpc>
                <a:spcBef>
                  <a:spcPct val="0"/>
                </a:spcBef>
              </a:pPr>
            </a:p>
          </p:txBody>
        </p:sp>
      </p:grpSp>
      <p:grpSp>
        <p:nvGrpSpPr>
          <p:cNvPr name="Group 14" id="14"/>
          <p:cNvGrpSpPr/>
          <p:nvPr/>
        </p:nvGrpSpPr>
        <p:grpSpPr>
          <a:xfrm rot="0">
            <a:off x="6207705" y="5363731"/>
            <a:ext cx="4268672" cy="2080703"/>
            <a:chOff x="0" y="0"/>
            <a:chExt cx="1638716" cy="798768"/>
          </a:xfrm>
        </p:grpSpPr>
        <p:sp>
          <p:nvSpPr>
            <p:cNvPr name="Freeform 15" id="15"/>
            <p:cNvSpPr/>
            <p:nvPr/>
          </p:nvSpPr>
          <p:spPr>
            <a:xfrm flipH="false" flipV="false" rot="0">
              <a:off x="0" y="0"/>
              <a:ext cx="1638716" cy="798768"/>
            </a:xfrm>
            <a:custGeom>
              <a:avLst/>
              <a:gdLst/>
              <a:ahLst/>
              <a:cxnLst/>
              <a:rect r="r" b="b" t="t" l="l"/>
              <a:pathLst>
                <a:path h="798768" w="1638716">
                  <a:moveTo>
                    <a:pt x="0" y="0"/>
                  </a:moveTo>
                  <a:lnTo>
                    <a:pt x="1638716" y="0"/>
                  </a:lnTo>
                  <a:lnTo>
                    <a:pt x="1638716" y="798768"/>
                  </a:lnTo>
                  <a:lnTo>
                    <a:pt x="0" y="798768"/>
                  </a:lnTo>
                  <a:close/>
                </a:path>
              </a:pathLst>
            </a:custGeom>
            <a:solidFill>
              <a:srgbClr val="FFFFFF"/>
            </a:solidFill>
            <a:ln w="19050" cap="sq">
              <a:solidFill>
                <a:srgbClr val="7C898B"/>
              </a:solidFill>
              <a:prstDash val="solid"/>
              <a:miter/>
            </a:ln>
          </p:spPr>
        </p:sp>
        <p:sp>
          <p:nvSpPr>
            <p:cNvPr name="TextBox 16" id="16"/>
            <p:cNvSpPr txBox="true"/>
            <p:nvPr/>
          </p:nvSpPr>
          <p:spPr>
            <a:xfrm>
              <a:off x="0" y="-38100"/>
              <a:ext cx="1638716" cy="836868"/>
            </a:xfrm>
            <a:prstGeom prst="rect">
              <a:avLst/>
            </a:prstGeom>
          </p:spPr>
          <p:txBody>
            <a:bodyPr anchor="ctr" rtlCol="false" tIns="50800" lIns="50800" bIns="50800" rIns="50800"/>
            <a:lstStyle/>
            <a:p>
              <a:pPr algn="ctr" marL="0" indent="0" lvl="0">
                <a:lnSpc>
                  <a:spcPts val="2799"/>
                </a:lnSpc>
                <a:spcBef>
                  <a:spcPct val="0"/>
                </a:spcBef>
              </a:pPr>
            </a:p>
          </p:txBody>
        </p:sp>
      </p:grpSp>
      <p:grpSp>
        <p:nvGrpSpPr>
          <p:cNvPr name="Group 17" id="17"/>
          <p:cNvGrpSpPr/>
          <p:nvPr/>
        </p:nvGrpSpPr>
        <p:grpSpPr>
          <a:xfrm rot="0">
            <a:off x="10743077" y="5363731"/>
            <a:ext cx="4268672" cy="2080703"/>
            <a:chOff x="0" y="0"/>
            <a:chExt cx="1638716" cy="798768"/>
          </a:xfrm>
        </p:grpSpPr>
        <p:sp>
          <p:nvSpPr>
            <p:cNvPr name="Freeform 18" id="18"/>
            <p:cNvSpPr/>
            <p:nvPr/>
          </p:nvSpPr>
          <p:spPr>
            <a:xfrm flipH="false" flipV="false" rot="0">
              <a:off x="0" y="0"/>
              <a:ext cx="1638716" cy="798768"/>
            </a:xfrm>
            <a:custGeom>
              <a:avLst/>
              <a:gdLst/>
              <a:ahLst/>
              <a:cxnLst/>
              <a:rect r="r" b="b" t="t" l="l"/>
              <a:pathLst>
                <a:path h="798768" w="1638716">
                  <a:moveTo>
                    <a:pt x="0" y="0"/>
                  </a:moveTo>
                  <a:lnTo>
                    <a:pt x="1638716" y="0"/>
                  </a:lnTo>
                  <a:lnTo>
                    <a:pt x="1638716" y="798768"/>
                  </a:lnTo>
                  <a:lnTo>
                    <a:pt x="0" y="798768"/>
                  </a:lnTo>
                  <a:close/>
                </a:path>
              </a:pathLst>
            </a:custGeom>
            <a:solidFill>
              <a:srgbClr val="FFFFFF"/>
            </a:solidFill>
            <a:ln w="19050" cap="sq">
              <a:solidFill>
                <a:srgbClr val="7C898B"/>
              </a:solidFill>
              <a:prstDash val="solid"/>
              <a:miter/>
            </a:ln>
          </p:spPr>
        </p:sp>
        <p:sp>
          <p:nvSpPr>
            <p:cNvPr name="TextBox 19" id="19"/>
            <p:cNvSpPr txBox="true"/>
            <p:nvPr/>
          </p:nvSpPr>
          <p:spPr>
            <a:xfrm>
              <a:off x="0" y="-38100"/>
              <a:ext cx="1638716" cy="836868"/>
            </a:xfrm>
            <a:prstGeom prst="rect">
              <a:avLst/>
            </a:prstGeom>
          </p:spPr>
          <p:txBody>
            <a:bodyPr anchor="ctr" rtlCol="false" tIns="50800" lIns="50800" bIns="50800" rIns="50800"/>
            <a:lstStyle/>
            <a:p>
              <a:pPr algn="ctr" marL="0" indent="0" lvl="0">
                <a:lnSpc>
                  <a:spcPts val="2799"/>
                </a:lnSpc>
                <a:spcBef>
                  <a:spcPct val="0"/>
                </a:spcBef>
              </a:pPr>
            </a:p>
          </p:txBody>
        </p:sp>
      </p:grpSp>
      <p:grpSp>
        <p:nvGrpSpPr>
          <p:cNvPr name="Group 20" id="20"/>
          <p:cNvGrpSpPr/>
          <p:nvPr/>
        </p:nvGrpSpPr>
        <p:grpSpPr>
          <a:xfrm rot="0">
            <a:off x="1656725" y="7663508"/>
            <a:ext cx="4268672" cy="2080703"/>
            <a:chOff x="0" y="0"/>
            <a:chExt cx="1638716" cy="798768"/>
          </a:xfrm>
        </p:grpSpPr>
        <p:sp>
          <p:nvSpPr>
            <p:cNvPr name="Freeform 21" id="21"/>
            <p:cNvSpPr/>
            <p:nvPr/>
          </p:nvSpPr>
          <p:spPr>
            <a:xfrm flipH="false" flipV="false" rot="0">
              <a:off x="0" y="0"/>
              <a:ext cx="1638716" cy="798768"/>
            </a:xfrm>
            <a:custGeom>
              <a:avLst/>
              <a:gdLst/>
              <a:ahLst/>
              <a:cxnLst/>
              <a:rect r="r" b="b" t="t" l="l"/>
              <a:pathLst>
                <a:path h="798768" w="1638716">
                  <a:moveTo>
                    <a:pt x="0" y="0"/>
                  </a:moveTo>
                  <a:lnTo>
                    <a:pt x="1638716" y="0"/>
                  </a:lnTo>
                  <a:lnTo>
                    <a:pt x="1638716" y="798768"/>
                  </a:lnTo>
                  <a:lnTo>
                    <a:pt x="0" y="798768"/>
                  </a:lnTo>
                  <a:close/>
                </a:path>
              </a:pathLst>
            </a:custGeom>
            <a:solidFill>
              <a:srgbClr val="FFFFFF"/>
            </a:solidFill>
            <a:ln w="19050" cap="sq">
              <a:solidFill>
                <a:srgbClr val="7C898B"/>
              </a:solidFill>
              <a:prstDash val="solid"/>
              <a:miter/>
            </a:ln>
          </p:spPr>
        </p:sp>
        <p:sp>
          <p:nvSpPr>
            <p:cNvPr name="TextBox 22" id="22"/>
            <p:cNvSpPr txBox="true"/>
            <p:nvPr/>
          </p:nvSpPr>
          <p:spPr>
            <a:xfrm>
              <a:off x="0" y="-38100"/>
              <a:ext cx="1638716" cy="836868"/>
            </a:xfrm>
            <a:prstGeom prst="rect">
              <a:avLst/>
            </a:prstGeom>
          </p:spPr>
          <p:txBody>
            <a:bodyPr anchor="ctr" rtlCol="false" tIns="50800" lIns="50800" bIns="50800" rIns="50800"/>
            <a:lstStyle/>
            <a:p>
              <a:pPr algn="ctr" marL="0" indent="0" lvl="0">
                <a:lnSpc>
                  <a:spcPts val="2799"/>
                </a:lnSpc>
                <a:spcBef>
                  <a:spcPct val="0"/>
                </a:spcBef>
              </a:pPr>
            </a:p>
          </p:txBody>
        </p:sp>
      </p:grpSp>
      <p:grpSp>
        <p:nvGrpSpPr>
          <p:cNvPr name="Group 23" id="23"/>
          <p:cNvGrpSpPr/>
          <p:nvPr/>
        </p:nvGrpSpPr>
        <p:grpSpPr>
          <a:xfrm rot="0">
            <a:off x="6207705" y="7663508"/>
            <a:ext cx="4268672" cy="2080703"/>
            <a:chOff x="0" y="0"/>
            <a:chExt cx="1638716" cy="798768"/>
          </a:xfrm>
        </p:grpSpPr>
        <p:sp>
          <p:nvSpPr>
            <p:cNvPr name="Freeform 24" id="24"/>
            <p:cNvSpPr/>
            <p:nvPr/>
          </p:nvSpPr>
          <p:spPr>
            <a:xfrm flipH="false" flipV="false" rot="0">
              <a:off x="0" y="0"/>
              <a:ext cx="1638716" cy="798768"/>
            </a:xfrm>
            <a:custGeom>
              <a:avLst/>
              <a:gdLst/>
              <a:ahLst/>
              <a:cxnLst/>
              <a:rect r="r" b="b" t="t" l="l"/>
              <a:pathLst>
                <a:path h="798768" w="1638716">
                  <a:moveTo>
                    <a:pt x="0" y="0"/>
                  </a:moveTo>
                  <a:lnTo>
                    <a:pt x="1638716" y="0"/>
                  </a:lnTo>
                  <a:lnTo>
                    <a:pt x="1638716" y="798768"/>
                  </a:lnTo>
                  <a:lnTo>
                    <a:pt x="0" y="798768"/>
                  </a:lnTo>
                  <a:close/>
                </a:path>
              </a:pathLst>
            </a:custGeom>
            <a:solidFill>
              <a:srgbClr val="FFFFFF"/>
            </a:solidFill>
            <a:ln w="19050" cap="sq">
              <a:solidFill>
                <a:srgbClr val="7C898B"/>
              </a:solidFill>
              <a:prstDash val="solid"/>
              <a:miter/>
            </a:ln>
          </p:spPr>
        </p:sp>
        <p:sp>
          <p:nvSpPr>
            <p:cNvPr name="TextBox 25" id="25"/>
            <p:cNvSpPr txBox="true"/>
            <p:nvPr/>
          </p:nvSpPr>
          <p:spPr>
            <a:xfrm>
              <a:off x="0" y="-38100"/>
              <a:ext cx="1638716" cy="836868"/>
            </a:xfrm>
            <a:prstGeom prst="rect">
              <a:avLst/>
            </a:prstGeom>
          </p:spPr>
          <p:txBody>
            <a:bodyPr anchor="ctr" rtlCol="false" tIns="50800" lIns="50800" bIns="50800" rIns="50800"/>
            <a:lstStyle/>
            <a:p>
              <a:pPr algn="ctr" marL="0" indent="0" lvl="0">
                <a:lnSpc>
                  <a:spcPts val="2799"/>
                </a:lnSpc>
                <a:spcBef>
                  <a:spcPct val="0"/>
                </a:spcBef>
              </a:pPr>
            </a:p>
          </p:txBody>
        </p:sp>
      </p:grpSp>
      <p:grpSp>
        <p:nvGrpSpPr>
          <p:cNvPr name="Group 26" id="26"/>
          <p:cNvGrpSpPr/>
          <p:nvPr/>
        </p:nvGrpSpPr>
        <p:grpSpPr>
          <a:xfrm rot="0">
            <a:off x="10743077" y="7663508"/>
            <a:ext cx="4268672" cy="2080703"/>
            <a:chOff x="0" y="0"/>
            <a:chExt cx="1638716" cy="798768"/>
          </a:xfrm>
        </p:grpSpPr>
        <p:sp>
          <p:nvSpPr>
            <p:cNvPr name="Freeform 27" id="27"/>
            <p:cNvSpPr/>
            <p:nvPr/>
          </p:nvSpPr>
          <p:spPr>
            <a:xfrm flipH="false" flipV="false" rot="0">
              <a:off x="0" y="0"/>
              <a:ext cx="1638716" cy="798768"/>
            </a:xfrm>
            <a:custGeom>
              <a:avLst/>
              <a:gdLst/>
              <a:ahLst/>
              <a:cxnLst/>
              <a:rect r="r" b="b" t="t" l="l"/>
              <a:pathLst>
                <a:path h="798768" w="1638716">
                  <a:moveTo>
                    <a:pt x="0" y="0"/>
                  </a:moveTo>
                  <a:lnTo>
                    <a:pt x="1638716" y="0"/>
                  </a:lnTo>
                  <a:lnTo>
                    <a:pt x="1638716" y="798768"/>
                  </a:lnTo>
                  <a:lnTo>
                    <a:pt x="0" y="798768"/>
                  </a:lnTo>
                  <a:close/>
                </a:path>
              </a:pathLst>
            </a:custGeom>
            <a:solidFill>
              <a:srgbClr val="FFFFFF"/>
            </a:solidFill>
            <a:ln w="19050" cap="sq">
              <a:solidFill>
                <a:srgbClr val="7C898B"/>
              </a:solidFill>
              <a:prstDash val="solid"/>
              <a:miter/>
            </a:ln>
          </p:spPr>
        </p:sp>
        <p:sp>
          <p:nvSpPr>
            <p:cNvPr name="TextBox 28" id="28"/>
            <p:cNvSpPr txBox="true"/>
            <p:nvPr/>
          </p:nvSpPr>
          <p:spPr>
            <a:xfrm>
              <a:off x="0" y="-38100"/>
              <a:ext cx="1638716" cy="836868"/>
            </a:xfrm>
            <a:prstGeom prst="rect">
              <a:avLst/>
            </a:prstGeom>
          </p:spPr>
          <p:txBody>
            <a:bodyPr anchor="ctr" rtlCol="false" tIns="50800" lIns="50800" bIns="50800" rIns="50800"/>
            <a:lstStyle/>
            <a:p>
              <a:pPr algn="ctr" marL="0" indent="0" lvl="0">
                <a:lnSpc>
                  <a:spcPts val="2799"/>
                </a:lnSpc>
                <a:spcBef>
                  <a:spcPct val="0"/>
                </a:spcBef>
              </a:pPr>
            </a:p>
          </p:txBody>
        </p:sp>
      </p:grpSp>
      <p:grpSp>
        <p:nvGrpSpPr>
          <p:cNvPr name="Group 29" id="29"/>
          <p:cNvGrpSpPr/>
          <p:nvPr/>
        </p:nvGrpSpPr>
        <p:grpSpPr>
          <a:xfrm rot="0">
            <a:off x="5123283" y="3296998"/>
            <a:ext cx="411400" cy="411400"/>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4654A"/>
            </a:solidFill>
          </p:spPr>
        </p:sp>
        <p:sp>
          <p:nvSpPr>
            <p:cNvPr name="TextBox 31" id="31"/>
            <p:cNvSpPr txBox="true"/>
            <p:nvPr/>
          </p:nvSpPr>
          <p:spPr>
            <a:xfrm>
              <a:off x="76200" y="38100"/>
              <a:ext cx="660400" cy="698500"/>
            </a:xfrm>
            <a:prstGeom prst="rect">
              <a:avLst/>
            </a:prstGeom>
          </p:spPr>
          <p:txBody>
            <a:bodyPr anchor="ctr" rtlCol="false" tIns="50800" lIns="50800" bIns="50800" rIns="50800"/>
            <a:lstStyle/>
            <a:p>
              <a:pPr algn="ctr">
                <a:lnSpc>
                  <a:spcPts val="2799"/>
                </a:lnSpc>
              </a:pPr>
            </a:p>
          </p:txBody>
        </p:sp>
      </p:grpSp>
      <p:sp>
        <p:nvSpPr>
          <p:cNvPr name="TextBox 32" id="32"/>
          <p:cNvSpPr txBox="true"/>
          <p:nvPr/>
        </p:nvSpPr>
        <p:spPr>
          <a:xfrm rot="0">
            <a:off x="1958028" y="3344623"/>
            <a:ext cx="2302501" cy="629373"/>
          </a:xfrm>
          <a:prstGeom prst="rect">
            <a:avLst/>
          </a:prstGeom>
        </p:spPr>
        <p:txBody>
          <a:bodyPr anchor="t" rtlCol="false" tIns="0" lIns="0" bIns="0" rIns="0">
            <a:spAutoFit/>
          </a:bodyPr>
          <a:lstStyle/>
          <a:p>
            <a:pPr algn="l">
              <a:lnSpc>
                <a:spcPts val="2469"/>
              </a:lnSpc>
            </a:pPr>
            <a:r>
              <a:rPr lang="en-US" sz="2469" b="true">
                <a:solidFill>
                  <a:srgbClr val="253439"/>
                </a:solidFill>
                <a:latin typeface="Lato Bold"/>
                <a:ea typeface="Lato Bold"/>
                <a:cs typeface="Lato Bold"/>
                <a:sym typeface="Lato Bold"/>
              </a:rPr>
              <a:t>Direction &amp; Assistanat</a:t>
            </a:r>
          </a:p>
        </p:txBody>
      </p:sp>
      <p:sp>
        <p:nvSpPr>
          <p:cNvPr name="TextBox 33" id="33"/>
          <p:cNvSpPr txBox="true"/>
          <p:nvPr/>
        </p:nvSpPr>
        <p:spPr>
          <a:xfrm rot="0">
            <a:off x="1958028" y="4137999"/>
            <a:ext cx="3576655" cy="728604"/>
          </a:xfrm>
          <a:prstGeom prst="rect">
            <a:avLst/>
          </a:prstGeom>
        </p:spPr>
        <p:txBody>
          <a:bodyPr anchor="t" rtlCol="false" tIns="0" lIns="0" bIns="0" rIns="0">
            <a:spAutoFit/>
          </a:bodyPr>
          <a:lstStyle/>
          <a:p>
            <a:pPr algn="l" marL="296240" indent="-148120" lvl="1">
              <a:lnSpc>
                <a:spcPts val="1920"/>
              </a:lnSpc>
              <a:spcBef>
                <a:spcPct val="0"/>
              </a:spcBef>
              <a:buFont typeface="Arial"/>
              <a:buChar char="•"/>
            </a:pPr>
            <a:r>
              <a:rPr lang="en-US" sz="1372" spc="-27">
                <a:solidFill>
                  <a:srgbClr val="1C191A"/>
                </a:solidFill>
                <a:latin typeface="Lato"/>
                <a:ea typeface="Lato"/>
                <a:cs typeface="Lato"/>
                <a:sym typeface="Lato"/>
              </a:rPr>
              <a:t>Rédacti</a:t>
            </a:r>
            <a:r>
              <a:rPr lang="en-US" sz="1372" spc="-27" strike="noStrike" u="none">
                <a:solidFill>
                  <a:srgbClr val="1C191A"/>
                </a:solidFill>
                <a:latin typeface="Lato"/>
                <a:ea typeface="Lato"/>
                <a:cs typeface="Lato"/>
                <a:sym typeface="Lato"/>
              </a:rPr>
              <a:t>on &amp; relecture d'emails et document</a:t>
            </a:r>
            <a:r>
              <a:rPr lang="en-US" sz="1372" spc="-27" strike="noStrike" u="none">
                <a:solidFill>
                  <a:srgbClr val="1C191A"/>
                </a:solidFill>
                <a:latin typeface="Lato"/>
                <a:ea typeface="Lato"/>
                <a:cs typeface="Lato"/>
                <a:sym typeface="Lato"/>
              </a:rPr>
              <a:t>s</a:t>
            </a:r>
          </a:p>
          <a:p>
            <a:pPr algn="l" marL="296240" indent="-148120" lvl="1">
              <a:lnSpc>
                <a:spcPts val="1920"/>
              </a:lnSpc>
              <a:spcBef>
                <a:spcPct val="0"/>
              </a:spcBef>
              <a:buFont typeface="Arial"/>
              <a:buChar char="•"/>
            </a:pPr>
            <a:r>
              <a:rPr lang="en-US" sz="1372" spc="-27" strike="noStrike" u="none">
                <a:solidFill>
                  <a:srgbClr val="1C191A"/>
                </a:solidFill>
                <a:latin typeface="Lato"/>
                <a:ea typeface="Lato"/>
                <a:cs typeface="Lato"/>
                <a:sym typeface="Lato"/>
              </a:rPr>
              <a:t>A</a:t>
            </a:r>
            <a:r>
              <a:rPr lang="en-US" sz="1372" spc="-27" strike="noStrike" u="none">
                <a:solidFill>
                  <a:srgbClr val="1C191A"/>
                </a:solidFill>
                <a:latin typeface="Lato"/>
                <a:ea typeface="Lato"/>
                <a:cs typeface="Lato"/>
                <a:sym typeface="Lato"/>
              </a:rPr>
              <a:t>ge</a:t>
            </a:r>
            <a:r>
              <a:rPr lang="en-US" sz="1372" spc="-27" strike="noStrike" u="none">
                <a:solidFill>
                  <a:srgbClr val="1C191A"/>
                </a:solidFill>
                <a:latin typeface="Lato"/>
                <a:ea typeface="Lato"/>
                <a:cs typeface="Lato"/>
                <a:sym typeface="Lato"/>
              </a:rPr>
              <a:t>nd</a:t>
            </a:r>
            <a:r>
              <a:rPr lang="en-US" sz="1372" spc="-27" strike="noStrike" u="none">
                <a:solidFill>
                  <a:srgbClr val="1C191A"/>
                </a:solidFill>
                <a:latin typeface="Lato"/>
                <a:ea typeface="Lato"/>
                <a:cs typeface="Lato"/>
                <a:sym typeface="Lato"/>
              </a:rPr>
              <a:t>a </a:t>
            </a:r>
            <a:r>
              <a:rPr lang="en-US" sz="1372" spc="-27" strike="noStrike" u="none">
                <a:solidFill>
                  <a:srgbClr val="1C191A"/>
                </a:solidFill>
                <a:latin typeface="Lato"/>
                <a:ea typeface="Lato"/>
                <a:cs typeface="Lato"/>
                <a:sym typeface="Lato"/>
              </a:rPr>
              <a:t>et</a:t>
            </a:r>
            <a:r>
              <a:rPr lang="en-US" sz="1372" spc="-27" strike="noStrike" u="none">
                <a:solidFill>
                  <a:srgbClr val="1C191A"/>
                </a:solidFill>
                <a:latin typeface="Lato"/>
                <a:ea typeface="Lato"/>
                <a:cs typeface="Lato"/>
                <a:sym typeface="Lato"/>
              </a:rPr>
              <a:t> </a:t>
            </a:r>
            <a:r>
              <a:rPr lang="en-US" sz="1372" spc="-27" strike="noStrike" u="none">
                <a:solidFill>
                  <a:srgbClr val="1C191A"/>
                </a:solidFill>
                <a:latin typeface="Lato"/>
                <a:ea typeface="Lato"/>
                <a:cs typeface="Lato"/>
                <a:sym typeface="Lato"/>
              </a:rPr>
              <a:t>RDV</a:t>
            </a:r>
            <a:r>
              <a:rPr lang="en-US" sz="1372" spc="-27" strike="noStrike" u="none">
                <a:solidFill>
                  <a:srgbClr val="1C191A"/>
                </a:solidFill>
                <a:latin typeface="Lato"/>
                <a:ea typeface="Lato"/>
                <a:cs typeface="Lato"/>
                <a:sym typeface="Lato"/>
              </a:rPr>
              <a:t> des </a:t>
            </a:r>
            <a:r>
              <a:rPr lang="en-US" sz="1372" spc="-27" strike="noStrike" u="none">
                <a:solidFill>
                  <a:srgbClr val="1C191A"/>
                </a:solidFill>
                <a:latin typeface="Lato"/>
                <a:ea typeface="Lato"/>
                <a:cs typeface="Lato"/>
                <a:sym typeface="Lato"/>
              </a:rPr>
              <a:t>di</a:t>
            </a:r>
            <a:r>
              <a:rPr lang="en-US" sz="1372" spc="-27" strike="noStrike" u="none">
                <a:solidFill>
                  <a:srgbClr val="1C191A"/>
                </a:solidFill>
                <a:latin typeface="Lato"/>
                <a:ea typeface="Lato"/>
                <a:cs typeface="Lato"/>
                <a:sym typeface="Lato"/>
              </a:rPr>
              <a:t>recteurs optimi</a:t>
            </a:r>
            <a:r>
              <a:rPr lang="en-US" sz="1372" spc="-27" strike="noStrike" u="none">
                <a:solidFill>
                  <a:srgbClr val="1C191A"/>
                </a:solidFill>
                <a:latin typeface="Lato"/>
                <a:ea typeface="Lato"/>
                <a:cs typeface="Lato"/>
                <a:sym typeface="Lato"/>
              </a:rPr>
              <a:t>sés</a:t>
            </a:r>
          </a:p>
          <a:p>
            <a:pPr algn="l" marL="296240" indent="-148120" lvl="1">
              <a:lnSpc>
                <a:spcPts val="1920"/>
              </a:lnSpc>
              <a:spcBef>
                <a:spcPct val="0"/>
              </a:spcBef>
              <a:buFont typeface="Arial"/>
              <a:buChar char="•"/>
            </a:pPr>
            <a:r>
              <a:rPr lang="en-US" sz="1372" spc="-27" strike="noStrike" u="none">
                <a:solidFill>
                  <a:srgbClr val="1C191A"/>
                </a:solidFill>
                <a:latin typeface="Lato"/>
                <a:ea typeface="Lato"/>
                <a:cs typeface="Lato"/>
                <a:sym typeface="Lato"/>
              </a:rPr>
              <a:t>CR</a:t>
            </a:r>
            <a:r>
              <a:rPr lang="en-US" sz="1372" spc="-27" strike="noStrike" u="none">
                <a:solidFill>
                  <a:srgbClr val="1C191A"/>
                </a:solidFill>
                <a:latin typeface="Lato"/>
                <a:ea typeface="Lato"/>
                <a:cs typeface="Lato"/>
                <a:sym typeface="Lato"/>
              </a:rPr>
              <a:t> </a:t>
            </a:r>
            <a:r>
              <a:rPr lang="en-US" sz="1372" spc="-27" strike="noStrike" u="none">
                <a:solidFill>
                  <a:srgbClr val="1C191A"/>
                </a:solidFill>
                <a:latin typeface="Lato"/>
                <a:ea typeface="Lato"/>
                <a:cs typeface="Lato"/>
                <a:sym typeface="Lato"/>
              </a:rPr>
              <a:t>d</a:t>
            </a:r>
            <a:r>
              <a:rPr lang="en-US" sz="1372" spc="-27" strike="noStrike" u="none">
                <a:solidFill>
                  <a:srgbClr val="1C191A"/>
                </a:solidFill>
                <a:latin typeface="Lato"/>
                <a:ea typeface="Lato"/>
                <a:cs typeface="Lato"/>
                <a:sym typeface="Lato"/>
              </a:rPr>
              <a:t>e r</a:t>
            </a:r>
            <a:r>
              <a:rPr lang="en-US" sz="1372" spc="-27" strike="noStrike" u="none">
                <a:solidFill>
                  <a:srgbClr val="1C191A"/>
                </a:solidFill>
                <a:latin typeface="Lato"/>
                <a:ea typeface="Lato"/>
                <a:cs typeface="Lato"/>
                <a:sym typeface="Lato"/>
              </a:rPr>
              <a:t>é</a:t>
            </a:r>
            <a:r>
              <a:rPr lang="en-US" sz="1372" spc="-27" strike="noStrike" u="none">
                <a:solidFill>
                  <a:srgbClr val="1C191A"/>
                </a:solidFill>
                <a:latin typeface="Lato"/>
                <a:ea typeface="Lato"/>
                <a:cs typeface="Lato"/>
                <a:sym typeface="Lato"/>
              </a:rPr>
              <a:t>u</a:t>
            </a:r>
            <a:r>
              <a:rPr lang="en-US" sz="1372" spc="-27" strike="noStrike" u="none">
                <a:solidFill>
                  <a:srgbClr val="1C191A"/>
                </a:solidFill>
                <a:latin typeface="Lato"/>
                <a:ea typeface="Lato"/>
                <a:cs typeface="Lato"/>
                <a:sym typeface="Lato"/>
              </a:rPr>
              <a:t>nion</a:t>
            </a:r>
            <a:r>
              <a:rPr lang="en-US" sz="1372" spc="-27" strike="noStrike" u="none">
                <a:solidFill>
                  <a:srgbClr val="1C191A"/>
                </a:solidFill>
                <a:latin typeface="Lato"/>
                <a:ea typeface="Lato"/>
                <a:cs typeface="Lato"/>
                <a:sym typeface="Lato"/>
              </a:rPr>
              <a:t>s au</a:t>
            </a:r>
            <a:r>
              <a:rPr lang="en-US" sz="1372" spc="-27" strike="noStrike" u="none">
                <a:solidFill>
                  <a:srgbClr val="1C191A"/>
                </a:solidFill>
                <a:latin typeface="Lato"/>
                <a:ea typeface="Lato"/>
                <a:cs typeface="Lato"/>
                <a:sym typeface="Lato"/>
              </a:rPr>
              <a:t>to</a:t>
            </a:r>
            <a:r>
              <a:rPr lang="en-US" sz="1372" spc="-27" strike="noStrike" u="none">
                <a:solidFill>
                  <a:srgbClr val="1C191A"/>
                </a:solidFill>
                <a:latin typeface="Lato"/>
                <a:ea typeface="Lato"/>
                <a:cs typeface="Lato"/>
                <a:sym typeface="Lato"/>
              </a:rPr>
              <a:t>mat</a:t>
            </a:r>
            <a:r>
              <a:rPr lang="en-US" sz="1372" spc="-27" strike="noStrike" u="none">
                <a:solidFill>
                  <a:srgbClr val="1C191A"/>
                </a:solidFill>
                <a:latin typeface="Lato"/>
                <a:ea typeface="Lato"/>
                <a:cs typeface="Lato"/>
                <a:sym typeface="Lato"/>
              </a:rPr>
              <a:t>i</a:t>
            </a:r>
            <a:r>
              <a:rPr lang="en-US" sz="1372" spc="-27" strike="noStrike" u="none">
                <a:solidFill>
                  <a:srgbClr val="1C191A"/>
                </a:solidFill>
                <a:latin typeface="Lato"/>
                <a:ea typeface="Lato"/>
                <a:cs typeface="Lato"/>
                <a:sym typeface="Lato"/>
              </a:rPr>
              <a:t>ques </a:t>
            </a:r>
            <a:r>
              <a:rPr lang="en-US" sz="1372" spc="-27" strike="noStrike" u="none">
                <a:solidFill>
                  <a:srgbClr val="1C191A"/>
                </a:solidFill>
                <a:latin typeface="Lato"/>
                <a:ea typeface="Lato"/>
                <a:cs typeface="Lato"/>
                <a:sym typeface="Lato"/>
              </a:rPr>
              <a:t>(CODIR, CA)</a:t>
            </a:r>
          </a:p>
        </p:txBody>
      </p:sp>
      <p:sp>
        <p:nvSpPr>
          <p:cNvPr name="TextBox 34" id="34"/>
          <p:cNvSpPr txBox="true"/>
          <p:nvPr/>
        </p:nvSpPr>
        <p:spPr>
          <a:xfrm rot="0">
            <a:off x="1656725" y="609154"/>
            <a:ext cx="9368660" cy="2079626"/>
          </a:xfrm>
          <a:prstGeom prst="rect">
            <a:avLst/>
          </a:prstGeom>
        </p:spPr>
        <p:txBody>
          <a:bodyPr anchor="t" rtlCol="false" tIns="0" lIns="0" bIns="0" rIns="0">
            <a:spAutoFit/>
          </a:bodyPr>
          <a:lstStyle/>
          <a:p>
            <a:pPr algn="l" marL="0" indent="0" lvl="0">
              <a:lnSpc>
                <a:spcPts val="8000"/>
              </a:lnSpc>
              <a:spcBef>
                <a:spcPct val="0"/>
              </a:spcBef>
            </a:pPr>
            <a:r>
              <a:rPr lang="en-US" sz="8000">
                <a:solidFill>
                  <a:srgbClr val="253439"/>
                </a:solidFill>
                <a:latin typeface="Lato"/>
                <a:ea typeface="Lato"/>
                <a:cs typeface="Lato"/>
                <a:sym typeface="Lato"/>
              </a:rPr>
              <a:t>Qui va adopter l’IA et pour quoi ?</a:t>
            </a:r>
          </a:p>
        </p:txBody>
      </p:sp>
      <p:sp>
        <p:nvSpPr>
          <p:cNvPr name="TextBox 35" id="35"/>
          <p:cNvSpPr txBox="true"/>
          <p:nvPr/>
        </p:nvSpPr>
        <p:spPr>
          <a:xfrm rot="0">
            <a:off x="6509008" y="3344623"/>
            <a:ext cx="2302501" cy="629373"/>
          </a:xfrm>
          <a:prstGeom prst="rect">
            <a:avLst/>
          </a:prstGeom>
        </p:spPr>
        <p:txBody>
          <a:bodyPr anchor="t" rtlCol="false" tIns="0" lIns="0" bIns="0" rIns="0">
            <a:spAutoFit/>
          </a:bodyPr>
          <a:lstStyle/>
          <a:p>
            <a:pPr algn="l">
              <a:lnSpc>
                <a:spcPts val="2469"/>
              </a:lnSpc>
            </a:pPr>
            <a:r>
              <a:rPr lang="en-US" sz="2469" b="true">
                <a:solidFill>
                  <a:srgbClr val="253439"/>
                </a:solidFill>
                <a:latin typeface="Lato Bold"/>
                <a:ea typeface="Lato Bold"/>
                <a:cs typeface="Lato Bold"/>
                <a:sym typeface="Lato Bold"/>
              </a:rPr>
              <a:t>Aménagemen &amp; Construction</a:t>
            </a:r>
          </a:p>
        </p:txBody>
      </p:sp>
      <p:sp>
        <p:nvSpPr>
          <p:cNvPr name="TextBox 36" id="36"/>
          <p:cNvSpPr txBox="true"/>
          <p:nvPr/>
        </p:nvSpPr>
        <p:spPr>
          <a:xfrm rot="0">
            <a:off x="6509008" y="4137999"/>
            <a:ext cx="3967369" cy="728604"/>
          </a:xfrm>
          <a:prstGeom prst="rect">
            <a:avLst/>
          </a:prstGeom>
        </p:spPr>
        <p:txBody>
          <a:bodyPr anchor="t" rtlCol="false" tIns="0" lIns="0" bIns="0" rIns="0">
            <a:spAutoFit/>
          </a:bodyPr>
          <a:lstStyle/>
          <a:p>
            <a:pPr algn="l" marL="296240" indent="-148120" lvl="1">
              <a:lnSpc>
                <a:spcPts val="1920"/>
              </a:lnSpc>
              <a:spcBef>
                <a:spcPct val="0"/>
              </a:spcBef>
              <a:buFont typeface="Arial"/>
              <a:buChar char="•"/>
            </a:pPr>
            <a:r>
              <a:rPr lang="en-US" sz="1372" spc="-27">
                <a:solidFill>
                  <a:srgbClr val="1C191A"/>
                </a:solidFill>
                <a:latin typeface="Lato"/>
                <a:ea typeface="Lato"/>
                <a:cs typeface="Lato"/>
                <a:sym typeface="Lato"/>
              </a:rPr>
              <a:t>A</a:t>
            </a:r>
            <a:r>
              <a:rPr lang="en-US" sz="1372" spc="-27" strike="noStrike" u="none">
                <a:solidFill>
                  <a:srgbClr val="1C191A"/>
                </a:solidFill>
                <a:latin typeface="Lato"/>
                <a:ea typeface="Lato"/>
                <a:cs typeface="Lato"/>
                <a:sym typeface="Lato"/>
              </a:rPr>
              <a:t>nalyse de DCE / appels d'offres</a:t>
            </a:r>
          </a:p>
          <a:p>
            <a:pPr algn="l" marL="296240" indent="-148120" lvl="1">
              <a:lnSpc>
                <a:spcPts val="1920"/>
              </a:lnSpc>
              <a:spcBef>
                <a:spcPct val="0"/>
              </a:spcBef>
              <a:buFont typeface="Arial"/>
              <a:buChar char="•"/>
            </a:pPr>
            <a:r>
              <a:rPr lang="en-US" sz="1372" spc="-27" strike="noStrike" u="none">
                <a:solidFill>
                  <a:srgbClr val="1C191A"/>
                </a:solidFill>
                <a:latin typeface="Lato"/>
                <a:ea typeface="Lato"/>
                <a:cs typeface="Lato"/>
                <a:sym typeface="Lato"/>
              </a:rPr>
              <a:t>Ré</a:t>
            </a:r>
            <a:r>
              <a:rPr lang="en-US" sz="1372" spc="-27" strike="noStrike" u="none">
                <a:solidFill>
                  <a:srgbClr val="1C191A"/>
                </a:solidFill>
                <a:latin typeface="Lato"/>
                <a:ea typeface="Lato"/>
                <a:cs typeface="Lato"/>
                <a:sym typeface="Lato"/>
              </a:rPr>
              <a:t>dact</a:t>
            </a:r>
            <a:r>
              <a:rPr lang="en-US" sz="1372" spc="-27" strike="noStrike" u="none">
                <a:solidFill>
                  <a:srgbClr val="1C191A"/>
                </a:solidFill>
                <a:latin typeface="Lato"/>
                <a:ea typeface="Lato"/>
                <a:cs typeface="Lato"/>
                <a:sym typeface="Lato"/>
              </a:rPr>
              <a:t>ion</a:t>
            </a:r>
            <a:r>
              <a:rPr lang="en-US" sz="1372" spc="-27" strike="noStrike" u="none">
                <a:solidFill>
                  <a:srgbClr val="1C191A"/>
                </a:solidFill>
                <a:latin typeface="Lato"/>
                <a:ea typeface="Lato"/>
                <a:cs typeface="Lato"/>
                <a:sym typeface="Lato"/>
              </a:rPr>
              <a:t> de d</a:t>
            </a:r>
            <a:r>
              <a:rPr lang="en-US" sz="1372" spc="-27" strike="noStrike" u="none">
                <a:solidFill>
                  <a:srgbClr val="1C191A"/>
                </a:solidFill>
                <a:latin typeface="Lato"/>
                <a:ea typeface="Lato"/>
                <a:cs typeface="Lato"/>
                <a:sym typeface="Lato"/>
              </a:rPr>
              <a:t>oss</a:t>
            </a:r>
            <a:r>
              <a:rPr lang="en-US" sz="1372" spc="-27" strike="noStrike" u="none">
                <a:solidFill>
                  <a:srgbClr val="1C191A"/>
                </a:solidFill>
                <a:latin typeface="Lato"/>
                <a:ea typeface="Lato"/>
                <a:cs typeface="Lato"/>
                <a:sym typeface="Lato"/>
              </a:rPr>
              <a:t>iers, notes, cahiers des</a:t>
            </a:r>
            <a:r>
              <a:rPr lang="en-US" sz="1372" spc="-27" strike="noStrike" u="none">
                <a:solidFill>
                  <a:srgbClr val="1C191A"/>
                </a:solidFill>
                <a:latin typeface="Lato"/>
                <a:ea typeface="Lato"/>
                <a:cs typeface="Lato"/>
                <a:sym typeface="Lato"/>
              </a:rPr>
              <a:t> charge</a:t>
            </a:r>
            <a:r>
              <a:rPr lang="en-US" sz="1372" spc="-27" strike="noStrike" u="none">
                <a:solidFill>
                  <a:srgbClr val="1C191A"/>
                </a:solidFill>
                <a:latin typeface="Lato"/>
                <a:ea typeface="Lato"/>
                <a:cs typeface="Lato"/>
                <a:sym typeface="Lato"/>
              </a:rPr>
              <a:t>s</a:t>
            </a:r>
          </a:p>
          <a:p>
            <a:pPr algn="l" marL="296240" indent="-148120" lvl="1">
              <a:lnSpc>
                <a:spcPts val="1920"/>
              </a:lnSpc>
              <a:spcBef>
                <a:spcPct val="0"/>
              </a:spcBef>
              <a:buFont typeface="Arial"/>
              <a:buChar char="•"/>
            </a:pPr>
            <a:r>
              <a:rPr lang="en-US" sz="1372" spc="-27" strike="noStrike" u="none">
                <a:solidFill>
                  <a:srgbClr val="1C191A"/>
                </a:solidFill>
                <a:latin typeface="Lato"/>
                <a:ea typeface="Lato"/>
                <a:cs typeface="Lato"/>
                <a:sym typeface="Lato"/>
              </a:rPr>
              <a:t>Veill</a:t>
            </a:r>
            <a:r>
              <a:rPr lang="en-US" sz="1372" spc="-27" strike="noStrike" u="none">
                <a:solidFill>
                  <a:srgbClr val="1C191A"/>
                </a:solidFill>
                <a:latin typeface="Lato"/>
                <a:ea typeface="Lato"/>
                <a:cs typeface="Lato"/>
                <a:sym typeface="Lato"/>
              </a:rPr>
              <a:t>e ré</a:t>
            </a:r>
            <a:r>
              <a:rPr lang="en-US" sz="1372" spc="-27" strike="noStrike" u="none">
                <a:solidFill>
                  <a:srgbClr val="1C191A"/>
                </a:solidFill>
                <a:latin typeface="Lato"/>
                <a:ea typeface="Lato"/>
                <a:cs typeface="Lato"/>
                <a:sym typeface="Lato"/>
              </a:rPr>
              <a:t>gleme</a:t>
            </a:r>
            <a:r>
              <a:rPr lang="en-US" sz="1372" spc="-27" strike="noStrike" u="none">
                <a:solidFill>
                  <a:srgbClr val="1C191A"/>
                </a:solidFill>
                <a:latin typeface="Lato"/>
                <a:ea typeface="Lato"/>
                <a:cs typeface="Lato"/>
                <a:sym typeface="Lato"/>
              </a:rPr>
              <a:t>n</a:t>
            </a:r>
            <a:r>
              <a:rPr lang="en-US" sz="1372" spc="-27" strike="noStrike" u="none">
                <a:solidFill>
                  <a:srgbClr val="1C191A"/>
                </a:solidFill>
                <a:latin typeface="Lato"/>
                <a:ea typeface="Lato"/>
                <a:cs typeface="Lato"/>
                <a:sym typeface="Lato"/>
              </a:rPr>
              <a:t>ta</a:t>
            </a:r>
            <a:r>
              <a:rPr lang="en-US" sz="1372" spc="-27" strike="noStrike" u="none">
                <a:solidFill>
                  <a:srgbClr val="1C191A"/>
                </a:solidFill>
                <a:latin typeface="Lato"/>
                <a:ea typeface="Lato"/>
                <a:cs typeface="Lato"/>
                <a:sym typeface="Lato"/>
              </a:rPr>
              <a:t>i</a:t>
            </a:r>
            <a:r>
              <a:rPr lang="en-US" sz="1372" spc="-27" strike="noStrike" u="none">
                <a:solidFill>
                  <a:srgbClr val="1C191A"/>
                </a:solidFill>
                <a:latin typeface="Lato"/>
                <a:ea typeface="Lato"/>
                <a:cs typeface="Lato"/>
                <a:sym typeface="Lato"/>
              </a:rPr>
              <a:t>re</a:t>
            </a:r>
            <a:r>
              <a:rPr lang="en-US" sz="1372" spc="-27" strike="noStrike" u="none">
                <a:solidFill>
                  <a:srgbClr val="1C191A"/>
                </a:solidFill>
                <a:latin typeface="Lato"/>
                <a:ea typeface="Lato"/>
                <a:cs typeface="Lato"/>
                <a:sym typeface="Lato"/>
              </a:rPr>
              <a:t> automati</a:t>
            </a:r>
            <a:r>
              <a:rPr lang="en-US" sz="1372" spc="-27" strike="noStrike" u="none">
                <a:solidFill>
                  <a:srgbClr val="1C191A"/>
                </a:solidFill>
                <a:latin typeface="Lato"/>
                <a:ea typeface="Lato"/>
                <a:cs typeface="Lato"/>
                <a:sym typeface="Lato"/>
              </a:rPr>
              <a:t>sé</a:t>
            </a:r>
            <a:r>
              <a:rPr lang="en-US" sz="1372" spc="-27" strike="noStrike" u="none">
                <a:solidFill>
                  <a:srgbClr val="1C191A"/>
                </a:solidFill>
                <a:latin typeface="Lato"/>
                <a:ea typeface="Lato"/>
                <a:cs typeface="Lato"/>
                <a:sym typeface="Lato"/>
              </a:rPr>
              <a:t>e</a:t>
            </a:r>
          </a:p>
        </p:txBody>
      </p:sp>
      <p:sp>
        <p:nvSpPr>
          <p:cNvPr name="TextBox 37" id="37"/>
          <p:cNvSpPr txBox="true"/>
          <p:nvPr/>
        </p:nvSpPr>
        <p:spPr>
          <a:xfrm rot="0">
            <a:off x="11044380" y="3498189"/>
            <a:ext cx="2302501" cy="322241"/>
          </a:xfrm>
          <a:prstGeom prst="rect">
            <a:avLst/>
          </a:prstGeom>
        </p:spPr>
        <p:txBody>
          <a:bodyPr anchor="t" rtlCol="false" tIns="0" lIns="0" bIns="0" rIns="0">
            <a:spAutoFit/>
          </a:bodyPr>
          <a:lstStyle/>
          <a:p>
            <a:pPr algn="l">
              <a:lnSpc>
                <a:spcPts val="2469"/>
              </a:lnSpc>
            </a:pPr>
            <a:r>
              <a:rPr lang="en-US" sz="2469" b="true">
                <a:solidFill>
                  <a:srgbClr val="253439"/>
                </a:solidFill>
                <a:latin typeface="Lato Bold"/>
                <a:ea typeface="Lato Bold"/>
                <a:cs typeface="Lato Bold"/>
                <a:sym typeface="Lato Bold"/>
              </a:rPr>
              <a:t>Stationnement</a:t>
            </a:r>
          </a:p>
        </p:txBody>
      </p:sp>
      <p:sp>
        <p:nvSpPr>
          <p:cNvPr name="TextBox 38" id="38"/>
          <p:cNvSpPr txBox="true"/>
          <p:nvPr/>
        </p:nvSpPr>
        <p:spPr>
          <a:xfrm rot="0">
            <a:off x="11044380" y="4137999"/>
            <a:ext cx="3576655" cy="728604"/>
          </a:xfrm>
          <a:prstGeom prst="rect">
            <a:avLst/>
          </a:prstGeom>
        </p:spPr>
        <p:txBody>
          <a:bodyPr anchor="t" rtlCol="false" tIns="0" lIns="0" bIns="0" rIns="0">
            <a:spAutoFit/>
          </a:bodyPr>
          <a:lstStyle/>
          <a:p>
            <a:pPr algn="l" marL="296240" indent="-148120" lvl="1">
              <a:lnSpc>
                <a:spcPts val="1920"/>
              </a:lnSpc>
              <a:spcBef>
                <a:spcPct val="0"/>
              </a:spcBef>
              <a:buFont typeface="Arial"/>
              <a:buChar char="•"/>
            </a:pPr>
            <a:r>
              <a:rPr lang="en-US" sz="1372" spc="-27">
                <a:solidFill>
                  <a:srgbClr val="1C191A"/>
                </a:solidFill>
                <a:latin typeface="Lato"/>
                <a:ea typeface="Lato"/>
                <a:cs typeface="Lato"/>
                <a:sym typeface="Lato"/>
              </a:rPr>
              <a:t>Prévisi</a:t>
            </a:r>
            <a:r>
              <a:rPr lang="en-US" sz="1372" spc="-27" strike="noStrike" u="none">
                <a:solidFill>
                  <a:srgbClr val="1C191A"/>
                </a:solidFill>
                <a:latin typeface="Lato"/>
                <a:ea typeface="Lato"/>
                <a:cs typeface="Lato"/>
                <a:sym typeface="Lato"/>
              </a:rPr>
              <a:t>on d'affluence des parkings</a:t>
            </a:r>
          </a:p>
          <a:p>
            <a:pPr algn="l" marL="296240" indent="-148120" lvl="1">
              <a:lnSpc>
                <a:spcPts val="1920"/>
              </a:lnSpc>
              <a:spcBef>
                <a:spcPct val="0"/>
              </a:spcBef>
              <a:buFont typeface="Arial"/>
              <a:buChar char="•"/>
            </a:pPr>
            <a:r>
              <a:rPr lang="en-US" sz="1372" spc="-27" strike="noStrike" u="none">
                <a:solidFill>
                  <a:srgbClr val="1C191A"/>
                </a:solidFill>
                <a:latin typeface="Lato"/>
                <a:ea typeface="Lato"/>
                <a:cs typeface="Lato"/>
                <a:sym typeface="Lato"/>
              </a:rPr>
              <a:t>Tr</a:t>
            </a:r>
            <a:r>
              <a:rPr lang="en-US" sz="1372" spc="-27" strike="noStrike" u="none">
                <a:solidFill>
                  <a:srgbClr val="1C191A"/>
                </a:solidFill>
                <a:latin typeface="Lato"/>
                <a:ea typeface="Lato"/>
                <a:cs typeface="Lato"/>
                <a:sym typeface="Lato"/>
              </a:rPr>
              <a:t>aiteme</a:t>
            </a:r>
            <a:r>
              <a:rPr lang="en-US" sz="1372" spc="-27" strike="noStrike" u="none">
                <a:solidFill>
                  <a:srgbClr val="1C191A"/>
                </a:solidFill>
                <a:latin typeface="Lato"/>
                <a:ea typeface="Lato"/>
                <a:cs typeface="Lato"/>
                <a:sym typeface="Lato"/>
              </a:rPr>
              <a:t>n</a:t>
            </a:r>
            <a:r>
              <a:rPr lang="en-US" sz="1372" spc="-27" strike="noStrike" u="none">
                <a:solidFill>
                  <a:srgbClr val="1C191A"/>
                </a:solidFill>
                <a:latin typeface="Lato"/>
                <a:ea typeface="Lato"/>
                <a:cs typeface="Lato"/>
                <a:sym typeface="Lato"/>
              </a:rPr>
              <a:t>t des réclamations &amp; RAPO (FPS)</a:t>
            </a:r>
          </a:p>
          <a:p>
            <a:pPr algn="l" marL="296240" indent="-148120" lvl="1">
              <a:lnSpc>
                <a:spcPts val="1920"/>
              </a:lnSpc>
              <a:spcBef>
                <a:spcPct val="0"/>
              </a:spcBef>
              <a:buFont typeface="Arial"/>
              <a:buChar char="•"/>
            </a:pPr>
            <a:r>
              <a:rPr lang="en-US" sz="1372" spc="-27" strike="noStrike" u="none">
                <a:solidFill>
                  <a:srgbClr val="1C191A"/>
                </a:solidFill>
                <a:latin typeface="Lato"/>
                <a:ea typeface="Lato"/>
                <a:cs typeface="Lato"/>
                <a:sym typeface="Lato"/>
              </a:rPr>
              <a:t>Dé</a:t>
            </a:r>
            <a:r>
              <a:rPr lang="en-US" sz="1372" spc="-27" strike="noStrike" u="none">
                <a:solidFill>
                  <a:srgbClr val="1C191A"/>
                </a:solidFill>
                <a:latin typeface="Lato"/>
                <a:ea typeface="Lato"/>
                <a:cs typeface="Lato"/>
                <a:sym typeface="Lato"/>
              </a:rPr>
              <a:t>tect</a:t>
            </a:r>
            <a:r>
              <a:rPr lang="en-US" sz="1372" spc="-27" strike="noStrike" u="none">
                <a:solidFill>
                  <a:srgbClr val="1C191A"/>
                </a:solidFill>
                <a:latin typeface="Lato"/>
                <a:ea typeface="Lato"/>
                <a:cs typeface="Lato"/>
                <a:sym typeface="Lato"/>
              </a:rPr>
              <a:t>ion d'anomalies des </a:t>
            </a:r>
            <a:r>
              <a:rPr lang="en-US" sz="1372" spc="-27" strike="noStrike" u="none">
                <a:solidFill>
                  <a:srgbClr val="1C191A"/>
                </a:solidFill>
                <a:latin typeface="Lato"/>
                <a:ea typeface="Lato"/>
                <a:cs typeface="Lato"/>
                <a:sym typeface="Lato"/>
              </a:rPr>
              <a:t>équipements</a:t>
            </a:r>
          </a:p>
        </p:txBody>
      </p:sp>
      <p:sp>
        <p:nvSpPr>
          <p:cNvPr name="TextBox 39" id="39"/>
          <p:cNvSpPr txBox="true"/>
          <p:nvPr/>
        </p:nvSpPr>
        <p:spPr>
          <a:xfrm rot="0">
            <a:off x="1958028" y="5648430"/>
            <a:ext cx="2302501" cy="629373"/>
          </a:xfrm>
          <a:prstGeom prst="rect">
            <a:avLst/>
          </a:prstGeom>
        </p:spPr>
        <p:txBody>
          <a:bodyPr anchor="t" rtlCol="false" tIns="0" lIns="0" bIns="0" rIns="0">
            <a:spAutoFit/>
          </a:bodyPr>
          <a:lstStyle/>
          <a:p>
            <a:pPr algn="l">
              <a:lnSpc>
                <a:spcPts val="2469"/>
              </a:lnSpc>
            </a:pPr>
            <a:r>
              <a:rPr lang="en-US" sz="2469" b="true">
                <a:solidFill>
                  <a:srgbClr val="253439"/>
                </a:solidFill>
                <a:latin typeface="Lato Bold"/>
                <a:ea typeface="Lato Bold"/>
                <a:cs typeface="Lato Bold"/>
                <a:sym typeface="Lato Bold"/>
              </a:rPr>
              <a:t>Informatique &amp; Données</a:t>
            </a:r>
          </a:p>
        </p:txBody>
      </p:sp>
      <p:sp>
        <p:nvSpPr>
          <p:cNvPr name="TextBox 40" id="40"/>
          <p:cNvSpPr txBox="true"/>
          <p:nvPr/>
        </p:nvSpPr>
        <p:spPr>
          <a:xfrm rot="0">
            <a:off x="1958028" y="6441806"/>
            <a:ext cx="3576655" cy="970389"/>
          </a:xfrm>
          <a:prstGeom prst="rect">
            <a:avLst/>
          </a:prstGeom>
        </p:spPr>
        <p:txBody>
          <a:bodyPr anchor="t" rtlCol="false" tIns="0" lIns="0" bIns="0" rIns="0">
            <a:spAutoFit/>
          </a:bodyPr>
          <a:lstStyle/>
          <a:p>
            <a:pPr algn="l" marL="296240" indent="-148120" lvl="1">
              <a:lnSpc>
                <a:spcPts val="1920"/>
              </a:lnSpc>
              <a:spcBef>
                <a:spcPct val="0"/>
              </a:spcBef>
              <a:buFont typeface="Arial"/>
              <a:buChar char="•"/>
            </a:pPr>
            <a:r>
              <a:rPr lang="en-US" sz="1372" spc="-27">
                <a:solidFill>
                  <a:srgbClr val="1C191A"/>
                </a:solidFill>
                <a:latin typeface="Lato"/>
                <a:ea typeface="Lato"/>
                <a:cs typeface="Lato"/>
                <a:sym typeface="Lato"/>
              </a:rPr>
              <a:t>Exploitati</a:t>
            </a:r>
            <a:r>
              <a:rPr lang="en-US" sz="1372" spc="-27" strike="noStrike" u="none">
                <a:solidFill>
                  <a:srgbClr val="1C191A"/>
                </a:solidFill>
                <a:latin typeface="Lato"/>
                <a:ea typeface="Lato"/>
                <a:cs typeface="Lato"/>
                <a:sym typeface="Lato"/>
              </a:rPr>
              <a:t>on des données dormantes</a:t>
            </a:r>
          </a:p>
          <a:p>
            <a:pPr algn="l" marL="296240" indent="-148120" lvl="1">
              <a:lnSpc>
                <a:spcPts val="1920"/>
              </a:lnSpc>
              <a:spcBef>
                <a:spcPct val="0"/>
              </a:spcBef>
              <a:buFont typeface="Arial"/>
              <a:buChar char="•"/>
            </a:pPr>
            <a:r>
              <a:rPr lang="en-US" sz="1372" spc="-27" strike="noStrike" u="none">
                <a:solidFill>
                  <a:srgbClr val="1C191A"/>
                </a:solidFill>
                <a:latin typeface="Lato"/>
                <a:ea typeface="Lato"/>
                <a:cs typeface="Lato"/>
                <a:sym typeface="Lato"/>
              </a:rPr>
              <a:t>Recherche documentaire (GED augmentée)</a:t>
            </a:r>
          </a:p>
          <a:p>
            <a:pPr algn="l" marL="296240" indent="-148120" lvl="1">
              <a:lnSpc>
                <a:spcPts val="1920"/>
              </a:lnSpc>
              <a:spcBef>
                <a:spcPct val="0"/>
              </a:spcBef>
              <a:buFont typeface="Arial"/>
              <a:buChar char="•"/>
            </a:pPr>
            <a:r>
              <a:rPr lang="en-US" sz="1372" spc="-27" strike="noStrike" u="none">
                <a:solidFill>
                  <a:srgbClr val="1C191A"/>
                </a:solidFill>
                <a:latin typeface="Lato"/>
                <a:ea typeface="Lato"/>
                <a:cs typeface="Lato"/>
                <a:sym typeface="Lato"/>
              </a:rPr>
              <a:t>Tableaux de bo</a:t>
            </a:r>
            <a:r>
              <a:rPr lang="en-US" sz="1372" spc="-27" strike="noStrike" u="none">
                <a:solidFill>
                  <a:srgbClr val="1C191A"/>
                </a:solidFill>
                <a:latin typeface="Lato"/>
                <a:ea typeface="Lato"/>
                <a:cs typeface="Lato"/>
                <a:sym typeface="Lato"/>
              </a:rPr>
              <a:t>rd</a:t>
            </a:r>
            <a:r>
              <a:rPr lang="en-US" sz="1372" spc="-27" strike="noStrike" u="none">
                <a:solidFill>
                  <a:srgbClr val="1C191A"/>
                </a:solidFill>
                <a:latin typeface="Lato"/>
                <a:ea typeface="Lato"/>
                <a:cs typeface="Lato"/>
                <a:sym typeface="Lato"/>
              </a:rPr>
              <a:t> t</a:t>
            </a:r>
            <a:r>
              <a:rPr lang="en-US" sz="1372" spc="-27" strike="noStrike" u="none">
                <a:solidFill>
                  <a:srgbClr val="1C191A"/>
                </a:solidFill>
                <a:latin typeface="Lato"/>
                <a:ea typeface="Lato"/>
                <a:cs typeface="Lato"/>
                <a:sym typeface="Lato"/>
              </a:rPr>
              <a:t>r</a:t>
            </a:r>
            <a:r>
              <a:rPr lang="en-US" sz="1372" spc="-27" strike="noStrike" u="none">
                <a:solidFill>
                  <a:srgbClr val="1C191A"/>
                </a:solidFill>
                <a:latin typeface="Lato"/>
                <a:ea typeface="Lato"/>
                <a:cs typeface="Lato"/>
                <a:sym typeface="Lato"/>
              </a:rPr>
              <a:t>ansverses</a:t>
            </a:r>
          </a:p>
          <a:p>
            <a:pPr algn="l">
              <a:lnSpc>
                <a:spcPts val="1920"/>
              </a:lnSpc>
              <a:spcBef>
                <a:spcPct val="0"/>
              </a:spcBef>
            </a:pPr>
          </a:p>
        </p:txBody>
      </p:sp>
      <p:sp>
        <p:nvSpPr>
          <p:cNvPr name="TextBox 41" id="41"/>
          <p:cNvSpPr txBox="true"/>
          <p:nvPr/>
        </p:nvSpPr>
        <p:spPr>
          <a:xfrm rot="0">
            <a:off x="6509008" y="5648430"/>
            <a:ext cx="3487948" cy="629373"/>
          </a:xfrm>
          <a:prstGeom prst="rect">
            <a:avLst/>
          </a:prstGeom>
        </p:spPr>
        <p:txBody>
          <a:bodyPr anchor="t" rtlCol="false" tIns="0" lIns="0" bIns="0" rIns="0">
            <a:spAutoFit/>
          </a:bodyPr>
          <a:lstStyle/>
          <a:p>
            <a:pPr algn="l">
              <a:lnSpc>
                <a:spcPts val="2469"/>
              </a:lnSpc>
            </a:pPr>
            <a:r>
              <a:rPr lang="en-US" sz="2469" b="true">
                <a:solidFill>
                  <a:srgbClr val="253439"/>
                </a:solidFill>
                <a:latin typeface="Lato Bold"/>
                <a:ea typeface="Lato Bold"/>
                <a:cs typeface="Lato Bold"/>
                <a:sym typeface="Lato Bold"/>
              </a:rPr>
              <a:t>Juridique &amp; </a:t>
            </a:r>
          </a:p>
          <a:p>
            <a:pPr algn="l">
              <a:lnSpc>
                <a:spcPts val="2469"/>
              </a:lnSpc>
            </a:pPr>
            <a:r>
              <a:rPr lang="en-US" sz="2469" b="true">
                <a:solidFill>
                  <a:srgbClr val="253439"/>
                </a:solidFill>
                <a:latin typeface="Lato Bold"/>
                <a:ea typeface="Lato Bold"/>
                <a:cs typeface="Lato Bold"/>
                <a:sym typeface="Lato Bold"/>
              </a:rPr>
              <a:t>Commande Publique</a:t>
            </a:r>
          </a:p>
        </p:txBody>
      </p:sp>
      <p:sp>
        <p:nvSpPr>
          <p:cNvPr name="TextBox 42" id="42"/>
          <p:cNvSpPr txBox="true"/>
          <p:nvPr/>
        </p:nvSpPr>
        <p:spPr>
          <a:xfrm rot="0">
            <a:off x="6509008" y="6441806"/>
            <a:ext cx="3576655" cy="728604"/>
          </a:xfrm>
          <a:prstGeom prst="rect">
            <a:avLst/>
          </a:prstGeom>
        </p:spPr>
        <p:txBody>
          <a:bodyPr anchor="t" rtlCol="false" tIns="0" lIns="0" bIns="0" rIns="0">
            <a:spAutoFit/>
          </a:bodyPr>
          <a:lstStyle/>
          <a:p>
            <a:pPr algn="l" marL="296240" indent="-148120" lvl="1">
              <a:lnSpc>
                <a:spcPts val="1920"/>
              </a:lnSpc>
              <a:spcBef>
                <a:spcPct val="0"/>
              </a:spcBef>
              <a:buFont typeface="Arial"/>
              <a:buChar char="•"/>
            </a:pPr>
            <a:r>
              <a:rPr lang="en-US" sz="1372" spc="-27">
                <a:solidFill>
                  <a:srgbClr val="1C191A"/>
                </a:solidFill>
                <a:latin typeface="Lato"/>
                <a:ea typeface="Lato"/>
                <a:cs typeface="Lato"/>
                <a:sym typeface="Lato"/>
              </a:rPr>
              <a:t>C</a:t>
            </a:r>
            <a:r>
              <a:rPr lang="en-US" sz="1372" spc="-27" strike="noStrike" u="none">
                <a:solidFill>
                  <a:srgbClr val="1C191A"/>
                </a:solidFill>
                <a:latin typeface="Lato"/>
                <a:ea typeface="Lato"/>
                <a:cs typeface="Lato"/>
                <a:sym typeface="Lato"/>
              </a:rPr>
              <a:t>onformité des marchés &amp; des pièces</a:t>
            </a:r>
          </a:p>
          <a:p>
            <a:pPr algn="l" marL="296240" indent="-148120" lvl="1">
              <a:lnSpc>
                <a:spcPts val="1920"/>
              </a:lnSpc>
              <a:spcBef>
                <a:spcPct val="0"/>
              </a:spcBef>
              <a:buFont typeface="Arial"/>
              <a:buChar char="•"/>
            </a:pPr>
            <a:r>
              <a:rPr lang="en-US" sz="1372" spc="-27" strike="noStrike" u="none">
                <a:solidFill>
                  <a:srgbClr val="1C191A"/>
                </a:solidFill>
                <a:latin typeface="Lato"/>
                <a:ea typeface="Lato"/>
                <a:cs typeface="Lato"/>
                <a:sym typeface="Lato"/>
              </a:rPr>
              <a:t>V</a:t>
            </a:r>
            <a:r>
              <a:rPr lang="en-US" sz="1372" spc="-27" strike="noStrike" u="none">
                <a:solidFill>
                  <a:srgbClr val="1C191A"/>
                </a:solidFill>
                <a:latin typeface="Lato"/>
                <a:ea typeface="Lato"/>
                <a:cs typeface="Lato"/>
                <a:sym typeface="Lato"/>
              </a:rPr>
              <a:t>eille juridique &amp; juri</a:t>
            </a:r>
            <a:r>
              <a:rPr lang="en-US" sz="1372" spc="-27" strike="noStrike" u="none">
                <a:solidFill>
                  <a:srgbClr val="1C191A"/>
                </a:solidFill>
                <a:latin typeface="Lato"/>
                <a:ea typeface="Lato"/>
                <a:cs typeface="Lato"/>
                <a:sym typeface="Lato"/>
              </a:rPr>
              <a:t>sp</a:t>
            </a:r>
            <a:r>
              <a:rPr lang="en-US" sz="1372" spc="-27" strike="noStrike" u="none">
                <a:solidFill>
                  <a:srgbClr val="1C191A"/>
                </a:solidFill>
                <a:latin typeface="Lato"/>
                <a:ea typeface="Lato"/>
                <a:cs typeface="Lato"/>
                <a:sym typeface="Lato"/>
              </a:rPr>
              <a:t>rudence</a:t>
            </a:r>
          </a:p>
          <a:p>
            <a:pPr algn="l" marL="296240" indent="-148120" lvl="1">
              <a:lnSpc>
                <a:spcPts val="1920"/>
              </a:lnSpc>
              <a:spcBef>
                <a:spcPct val="0"/>
              </a:spcBef>
              <a:buFont typeface="Arial"/>
              <a:buChar char="•"/>
            </a:pPr>
            <a:r>
              <a:rPr lang="en-US" sz="1372" spc="-27" strike="noStrike" u="none">
                <a:solidFill>
                  <a:srgbClr val="1C191A"/>
                </a:solidFill>
                <a:latin typeface="Lato"/>
                <a:ea typeface="Lato"/>
                <a:cs typeface="Lato"/>
                <a:sym typeface="Lato"/>
              </a:rPr>
              <a:t>R</a:t>
            </a:r>
            <a:r>
              <a:rPr lang="en-US" sz="1372" spc="-27" strike="noStrike" u="none">
                <a:solidFill>
                  <a:srgbClr val="1C191A"/>
                </a:solidFill>
                <a:latin typeface="Lato"/>
                <a:ea typeface="Lato"/>
                <a:cs typeface="Lato"/>
                <a:sym typeface="Lato"/>
              </a:rPr>
              <a:t>édaction</a:t>
            </a:r>
            <a:r>
              <a:rPr lang="en-US" sz="1372" spc="-27" strike="noStrike" u="none">
                <a:solidFill>
                  <a:srgbClr val="1C191A"/>
                </a:solidFill>
                <a:latin typeface="Lato"/>
                <a:ea typeface="Lato"/>
                <a:cs typeface="Lato"/>
                <a:sym typeface="Lato"/>
              </a:rPr>
              <a:t> de con</a:t>
            </a:r>
            <a:r>
              <a:rPr lang="en-US" sz="1372" spc="-27" strike="noStrike" u="none">
                <a:solidFill>
                  <a:srgbClr val="1C191A"/>
                </a:solidFill>
                <a:latin typeface="Lato"/>
                <a:ea typeface="Lato"/>
                <a:cs typeface="Lato"/>
                <a:sym typeface="Lato"/>
              </a:rPr>
              <a:t>trat</a:t>
            </a:r>
            <a:r>
              <a:rPr lang="en-US" sz="1372" spc="-27" strike="noStrike" u="none">
                <a:solidFill>
                  <a:srgbClr val="1C191A"/>
                </a:solidFill>
                <a:latin typeface="Lato"/>
                <a:ea typeface="Lato"/>
                <a:cs typeface="Lato"/>
                <a:sym typeface="Lato"/>
              </a:rPr>
              <a:t>s &amp; co</a:t>
            </a:r>
            <a:r>
              <a:rPr lang="en-US" sz="1372" spc="-27" strike="noStrike" u="none">
                <a:solidFill>
                  <a:srgbClr val="1C191A"/>
                </a:solidFill>
                <a:latin typeface="Lato"/>
                <a:ea typeface="Lato"/>
                <a:cs typeface="Lato"/>
                <a:sym typeface="Lato"/>
              </a:rPr>
              <a:t>nven</a:t>
            </a:r>
            <a:r>
              <a:rPr lang="en-US" sz="1372" spc="-27" strike="noStrike" u="none">
                <a:solidFill>
                  <a:srgbClr val="1C191A"/>
                </a:solidFill>
                <a:latin typeface="Lato"/>
                <a:ea typeface="Lato"/>
                <a:cs typeface="Lato"/>
                <a:sym typeface="Lato"/>
              </a:rPr>
              <a:t>ti</a:t>
            </a:r>
            <a:r>
              <a:rPr lang="en-US" sz="1372" spc="-27" strike="noStrike" u="none">
                <a:solidFill>
                  <a:srgbClr val="1C191A"/>
                </a:solidFill>
                <a:latin typeface="Lato"/>
                <a:ea typeface="Lato"/>
                <a:cs typeface="Lato"/>
                <a:sym typeface="Lato"/>
              </a:rPr>
              <a:t>on</a:t>
            </a:r>
            <a:r>
              <a:rPr lang="en-US" sz="1372" spc="-27" strike="noStrike" u="none">
                <a:solidFill>
                  <a:srgbClr val="1C191A"/>
                </a:solidFill>
                <a:latin typeface="Lato"/>
                <a:ea typeface="Lato"/>
                <a:cs typeface="Lato"/>
                <a:sym typeface="Lato"/>
              </a:rPr>
              <a:t>s</a:t>
            </a:r>
          </a:p>
        </p:txBody>
      </p:sp>
      <p:sp>
        <p:nvSpPr>
          <p:cNvPr name="TextBox 43" id="43"/>
          <p:cNvSpPr txBox="true"/>
          <p:nvPr/>
        </p:nvSpPr>
        <p:spPr>
          <a:xfrm rot="0">
            <a:off x="11044380" y="5648430"/>
            <a:ext cx="2302501" cy="629373"/>
          </a:xfrm>
          <a:prstGeom prst="rect">
            <a:avLst/>
          </a:prstGeom>
        </p:spPr>
        <p:txBody>
          <a:bodyPr anchor="t" rtlCol="false" tIns="0" lIns="0" bIns="0" rIns="0">
            <a:spAutoFit/>
          </a:bodyPr>
          <a:lstStyle/>
          <a:p>
            <a:pPr algn="l">
              <a:lnSpc>
                <a:spcPts val="2469"/>
              </a:lnSpc>
            </a:pPr>
            <a:r>
              <a:rPr lang="en-US" sz="2469" b="true">
                <a:solidFill>
                  <a:srgbClr val="253439"/>
                </a:solidFill>
                <a:latin typeface="Lato Bold"/>
                <a:ea typeface="Lato Bold"/>
                <a:cs typeface="Lato Bold"/>
                <a:sym typeface="Lato Bold"/>
              </a:rPr>
              <a:t>Patrimoine &amp; Travaux </a:t>
            </a:r>
          </a:p>
        </p:txBody>
      </p:sp>
      <p:sp>
        <p:nvSpPr>
          <p:cNvPr name="TextBox 44" id="44"/>
          <p:cNvSpPr txBox="true"/>
          <p:nvPr/>
        </p:nvSpPr>
        <p:spPr>
          <a:xfrm rot="0">
            <a:off x="11044380" y="6441806"/>
            <a:ext cx="3576655" cy="728604"/>
          </a:xfrm>
          <a:prstGeom prst="rect">
            <a:avLst/>
          </a:prstGeom>
        </p:spPr>
        <p:txBody>
          <a:bodyPr anchor="t" rtlCol="false" tIns="0" lIns="0" bIns="0" rIns="0">
            <a:spAutoFit/>
          </a:bodyPr>
          <a:lstStyle/>
          <a:p>
            <a:pPr algn="l" marL="296240" indent="-148120" lvl="1">
              <a:lnSpc>
                <a:spcPts val="1920"/>
              </a:lnSpc>
              <a:spcBef>
                <a:spcPct val="0"/>
              </a:spcBef>
              <a:buFont typeface="Arial"/>
              <a:buChar char="•"/>
            </a:pPr>
            <a:r>
              <a:rPr lang="en-US" sz="1372" spc="-27">
                <a:solidFill>
                  <a:srgbClr val="1C191A"/>
                </a:solidFill>
                <a:latin typeface="Lato"/>
                <a:ea typeface="Lato"/>
                <a:cs typeface="Lato"/>
                <a:sym typeface="Lato"/>
              </a:rPr>
              <a:t>Mai</a:t>
            </a:r>
            <a:r>
              <a:rPr lang="en-US" sz="1372" spc="-27" strike="noStrike" u="none">
                <a:solidFill>
                  <a:srgbClr val="1C191A"/>
                </a:solidFill>
                <a:latin typeface="Lato"/>
                <a:ea typeface="Lato"/>
                <a:cs typeface="Lato"/>
                <a:sym typeface="Lato"/>
              </a:rPr>
              <a:t>ntenance prédictive des ouvrages</a:t>
            </a:r>
          </a:p>
          <a:p>
            <a:pPr algn="l" marL="296240" indent="-148120" lvl="1">
              <a:lnSpc>
                <a:spcPts val="1920"/>
              </a:lnSpc>
              <a:spcBef>
                <a:spcPct val="0"/>
              </a:spcBef>
              <a:buFont typeface="Arial"/>
              <a:buChar char="•"/>
            </a:pPr>
            <a:r>
              <a:rPr lang="en-US" sz="1372" spc="-27" strike="noStrike" u="none">
                <a:solidFill>
                  <a:srgbClr val="1C191A"/>
                </a:solidFill>
                <a:latin typeface="Lato"/>
                <a:ea typeface="Lato"/>
                <a:cs typeface="Lato"/>
                <a:sym typeface="Lato"/>
              </a:rPr>
              <a:t>Suivi d</a:t>
            </a:r>
            <a:r>
              <a:rPr lang="en-US" sz="1372" spc="-27" strike="noStrike" u="none">
                <a:solidFill>
                  <a:srgbClr val="1C191A"/>
                </a:solidFill>
                <a:latin typeface="Lato"/>
                <a:ea typeface="Lato"/>
                <a:cs typeface="Lato"/>
                <a:sym typeface="Lato"/>
              </a:rPr>
              <a:t>e t</a:t>
            </a:r>
            <a:r>
              <a:rPr lang="en-US" sz="1372" spc="-27" strike="noStrike" u="none">
                <a:solidFill>
                  <a:srgbClr val="1C191A"/>
                </a:solidFill>
                <a:latin typeface="Lato"/>
                <a:ea typeface="Lato"/>
                <a:cs typeface="Lato"/>
                <a:sym typeface="Lato"/>
              </a:rPr>
              <a:t>ravaux</a:t>
            </a:r>
            <a:r>
              <a:rPr lang="en-US" sz="1372" spc="-27" strike="noStrike" u="none">
                <a:solidFill>
                  <a:srgbClr val="1C191A"/>
                </a:solidFill>
                <a:latin typeface="Lato"/>
                <a:ea typeface="Lato"/>
                <a:cs typeface="Lato"/>
                <a:sym typeface="Lato"/>
              </a:rPr>
              <a:t> : synthèse des CR</a:t>
            </a:r>
          </a:p>
          <a:p>
            <a:pPr algn="l" marL="296240" indent="-148120" lvl="1">
              <a:lnSpc>
                <a:spcPts val="1920"/>
              </a:lnSpc>
              <a:spcBef>
                <a:spcPct val="0"/>
              </a:spcBef>
              <a:buFont typeface="Arial"/>
              <a:buChar char="•"/>
            </a:pPr>
            <a:r>
              <a:rPr lang="en-US" sz="1372" spc="-27" strike="noStrike" u="none">
                <a:solidFill>
                  <a:srgbClr val="1C191A"/>
                </a:solidFill>
                <a:latin typeface="Lato"/>
                <a:ea typeface="Lato"/>
                <a:cs typeface="Lato"/>
                <a:sym typeface="Lato"/>
              </a:rPr>
              <a:t>Recherche dans les d</a:t>
            </a:r>
            <a:r>
              <a:rPr lang="en-US" sz="1372" spc="-27" strike="noStrike" u="none">
                <a:solidFill>
                  <a:srgbClr val="1C191A"/>
                </a:solidFill>
                <a:latin typeface="Lato"/>
                <a:ea typeface="Lato"/>
                <a:cs typeface="Lato"/>
                <a:sym typeface="Lato"/>
              </a:rPr>
              <a:t>ossi</a:t>
            </a:r>
            <a:r>
              <a:rPr lang="en-US" sz="1372" spc="-27" strike="noStrike" u="none">
                <a:solidFill>
                  <a:srgbClr val="1C191A"/>
                </a:solidFill>
                <a:latin typeface="Lato"/>
                <a:ea typeface="Lato"/>
                <a:cs typeface="Lato"/>
                <a:sym typeface="Lato"/>
              </a:rPr>
              <a:t>ers t</a:t>
            </a:r>
            <a:r>
              <a:rPr lang="en-US" sz="1372" spc="-27" strike="noStrike" u="none">
                <a:solidFill>
                  <a:srgbClr val="1C191A"/>
                </a:solidFill>
                <a:latin typeface="Lato"/>
                <a:ea typeface="Lato"/>
                <a:cs typeface="Lato"/>
                <a:sym typeface="Lato"/>
              </a:rPr>
              <a:t>echn</a:t>
            </a:r>
            <a:r>
              <a:rPr lang="en-US" sz="1372" spc="-27" strike="noStrike" u="none">
                <a:solidFill>
                  <a:srgbClr val="1C191A"/>
                </a:solidFill>
                <a:latin typeface="Lato"/>
                <a:ea typeface="Lato"/>
                <a:cs typeface="Lato"/>
                <a:sym typeface="Lato"/>
              </a:rPr>
              <a:t>iques</a:t>
            </a:r>
          </a:p>
        </p:txBody>
      </p:sp>
      <p:sp>
        <p:nvSpPr>
          <p:cNvPr name="TextBox 45" id="45"/>
          <p:cNvSpPr txBox="true"/>
          <p:nvPr/>
        </p:nvSpPr>
        <p:spPr>
          <a:xfrm rot="0">
            <a:off x="1958028" y="7948208"/>
            <a:ext cx="2302501" cy="629373"/>
          </a:xfrm>
          <a:prstGeom prst="rect">
            <a:avLst/>
          </a:prstGeom>
        </p:spPr>
        <p:txBody>
          <a:bodyPr anchor="t" rtlCol="false" tIns="0" lIns="0" bIns="0" rIns="0">
            <a:spAutoFit/>
          </a:bodyPr>
          <a:lstStyle/>
          <a:p>
            <a:pPr algn="l">
              <a:lnSpc>
                <a:spcPts val="2469"/>
              </a:lnSpc>
            </a:pPr>
            <a:r>
              <a:rPr lang="en-US" sz="2469" b="true">
                <a:solidFill>
                  <a:srgbClr val="253439"/>
                </a:solidFill>
                <a:latin typeface="Lato Bold"/>
                <a:ea typeface="Lato Bold"/>
                <a:cs typeface="Lato Bold"/>
                <a:sym typeface="Lato Bold"/>
              </a:rPr>
              <a:t>Comptabilité &amp; Finances </a:t>
            </a:r>
          </a:p>
        </p:txBody>
      </p:sp>
      <p:sp>
        <p:nvSpPr>
          <p:cNvPr name="TextBox 46" id="46"/>
          <p:cNvSpPr txBox="true"/>
          <p:nvPr/>
        </p:nvSpPr>
        <p:spPr>
          <a:xfrm rot="0">
            <a:off x="1958028" y="8741584"/>
            <a:ext cx="3576655" cy="728604"/>
          </a:xfrm>
          <a:prstGeom prst="rect">
            <a:avLst/>
          </a:prstGeom>
        </p:spPr>
        <p:txBody>
          <a:bodyPr anchor="t" rtlCol="false" tIns="0" lIns="0" bIns="0" rIns="0">
            <a:spAutoFit/>
          </a:bodyPr>
          <a:lstStyle/>
          <a:p>
            <a:pPr algn="l" marL="296240" indent="-148120" lvl="1">
              <a:lnSpc>
                <a:spcPts val="1920"/>
              </a:lnSpc>
              <a:spcBef>
                <a:spcPct val="0"/>
              </a:spcBef>
              <a:buFont typeface="Arial"/>
              <a:buChar char="•"/>
            </a:pPr>
            <a:r>
              <a:rPr lang="en-US" sz="1372" spc="-27">
                <a:solidFill>
                  <a:srgbClr val="1C191A"/>
                </a:solidFill>
                <a:latin typeface="Lato"/>
                <a:ea typeface="Lato"/>
                <a:cs typeface="Lato"/>
                <a:sym typeface="Lato"/>
              </a:rPr>
              <a:t>Extracti</a:t>
            </a:r>
            <a:r>
              <a:rPr lang="en-US" sz="1372" spc="-27" strike="noStrike" u="none">
                <a:solidFill>
                  <a:srgbClr val="1C191A"/>
                </a:solidFill>
                <a:latin typeface="Lato"/>
                <a:ea typeface="Lato"/>
                <a:cs typeface="Lato"/>
                <a:sym typeface="Lato"/>
              </a:rPr>
              <a:t>on des factures (OCR)</a:t>
            </a:r>
          </a:p>
          <a:p>
            <a:pPr algn="l" marL="296240" indent="-148120" lvl="1">
              <a:lnSpc>
                <a:spcPts val="1920"/>
              </a:lnSpc>
              <a:spcBef>
                <a:spcPct val="0"/>
              </a:spcBef>
              <a:buFont typeface="Arial"/>
              <a:buChar char="•"/>
            </a:pPr>
            <a:r>
              <a:rPr lang="en-US" sz="1372" spc="-27" strike="noStrike" u="none">
                <a:solidFill>
                  <a:srgbClr val="1C191A"/>
                </a:solidFill>
                <a:latin typeface="Lato"/>
                <a:ea typeface="Lato"/>
                <a:cs typeface="Lato"/>
                <a:sym typeface="Lato"/>
              </a:rPr>
              <a:t>Rapprochement des écritures</a:t>
            </a:r>
          </a:p>
          <a:p>
            <a:pPr algn="l" marL="296240" indent="-148120" lvl="1">
              <a:lnSpc>
                <a:spcPts val="1920"/>
              </a:lnSpc>
              <a:spcBef>
                <a:spcPct val="0"/>
              </a:spcBef>
              <a:buFont typeface="Arial"/>
              <a:buChar char="•"/>
            </a:pPr>
            <a:r>
              <a:rPr lang="en-US" sz="1372" spc="-27" strike="noStrike" u="none">
                <a:solidFill>
                  <a:srgbClr val="1C191A"/>
                </a:solidFill>
                <a:latin typeface="Lato"/>
                <a:ea typeface="Lato"/>
                <a:cs typeface="Lato"/>
                <a:sym typeface="Lato"/>
              </a:rPr>
              <a:t>Prévision de tréso</a:t>
            </a:r>
            <a:r>
              <a:rPr lang="en-US" sz="1372" spc="-27" strike="noStrike" u="none">
                <a:solidFill>
                  <a:srgbClr val="1C191A"/>
                </a:solidFill>
                <a:latin typeface="Lato"/>
                <a:ea typeface="Lato"/>
                <a:cs typeface="Lato"/>
                <a:sym typeface="Lato"/>
              </a:rPr>
              <a:t>rer</a:t>
            </a:r>
            <a:r>
              <a:rPr lang="en-US" sz="1372" spc="-27" strike="noStrike" u="none">
                <a:solidFill>
                  <a:srgbClr val="1C191A"/>
                </a:solidFill>
                <a:latin typeface="Lato"/>
                <a:ea typeface="Lato"/>
                <a:cs typeface="Lato"/>
                <a:sym typeface="Lato"/>
              </a:rPr>
              <a:t>ie &amp; </a:t>
            </a:r>
            <a:r>
              <a:rPr lang="en-US" sz="1372" spc="-27" strike="noStrike" u="none">
                <a:solidFill>
                  <a:srgbClr val="1C191A"/>
                </a:solidFill>
                <a:latin typeface="Lato"/>
                <a:ea typeface="Lato"/>
                <a:cs typeface="Lato"/>
                <a:sym typeface="Lato"/>
              </a:rPr>
              <a:t>recettes</a:t>
            </a:r>
          </a:p>
        </p:txBody>
      </p:sp>
      <p:sp>
        <p:nvSpPr>
          <p:cNvPr name="TextBox 47" id="47"/>
          <p:cNvSpPr txBox="true"/>
          <p:nvPr/>
        </p:nvSpPr>
        <p:spPr>
          <a:xfrm rot="0">
            <a:off x="6509008" y="8101774"/>
            <a:ext cx="2302501" cy="322241"/>
          </a:xfrm>
          <a:prstGeom prst="rect">
            <a:avLst/>
          </a:prstGeom>
        </p:spPr>
        <p:txBody>
          <a:bodyPr anchor="t" rtlCol="false" tIns="0" lIns="0" bIns="0" rIns="0">
            <a:spAutoFit/>
          </a:bodyPr>
          <a:lstStyle/>
          <a:p>
            <a:pPr algn="l">
              <a:lnSpc>
                <a:spcPts val="2469"/>
              </a:lnSpc>
            </a:pPr>
            <a:r>
              <a:rPr lang="en-US" sz="2469" b="true">
                <a:solidFill>
                  <a:srgbClr val="253439"/>
                </a:solidFill>
                <a:latin typeface="Lato Bold"/>
                <a:ea typeface="Lato Bold"/>
                <a:cs typeface="Lato Bold"/>
                <a:sym typeface="Lato Bold"/>
              </a:rPr>
              <a:t>Communication </a:t>
            </a:r>
          </a:p>
        </p:txBody>
      </p:sp>
      <p:sp>
        <p:nvSpPr>
          <p:cNvPr name="TextBox 48" id="48"/>
          <p:cNvSpPr txBox="true"/>
          <p:nvPr/>
        </p:nvSpPr>
        <p:spPr>
          <a:xfrm rot="0">
            <a:off x="6509008" y="8539481"/>
            <a:ext cx="3576655" cy="970389"/>
          </a:xfrm>
          <a:prstGeom prst="rect">
            <a:avLst/>
          </a:prstGeom>
        </p:spPr>
        <p:txBody>
          <a:bodyPr anchor="t" rtlCol="false" tIns="0" lIns="0" bIns="0" rIns="0">
            <a:spAutoFit/>
          </a:bodyPr>
          <a:lstStyle/>
          <a:p>
            <a:pPr algn="l" marL="296240" indent="-148120" lvl="1">
              <a:lnSpc>
                <a:spcPts val="1920"/>
              </a:lnSpc>
              <a:spcBef>
                <a:spcPct val="0"/>
              </a:spcBef>
              <a:buFont typeface="Arial"/>
              <a:buChar char="•"/>
            </a:pPr>
            <a:r>
              <a:rPr lang="en-US" sz="1372" spc="-27">
                <a:solidFill>
                  <a:srgbClr val="1C191A"/>
                </a:solidFill>
                <a:latin typeface="Lato"/>
                <a:ea typeface="Lato"/>
                <a:cs typeface="Lato"/>
                <a:sym typeface="Lato"/>
              </a:rPr>
              <a:t>C</a:t>
            </a:r>
            <a:r>
              <a:rPr lang="en-US" sz="1372" spc="-27" strike="noStrike" u="none">
                <a:solidFill>
                  <a:srgbClr val="1C191A"/>
                </a:solidFill>
                <a:latin typeface="Lato"/>
                <a:ea typeface="Lato"/>
                <a:cs typeface="Lato"/>
                <a:sym typeface="Lato"/>
              </a:rPr>
              <a:t>ontenus réseaux sociaux &amp; newsletters</a:t>
            </a:r>
          </a:p>
          <a:p>
            <a:pPr algn="l" marL="296240" indent="-148120" lvl="1">
              <a:lnSpc>
                <a:spcPts val="1920"/>
              </a:lnSpc>
              <a:spcBef>
                <a:spcPct val="0"/>
              </a:spcBef>
              <a:buFont typeface="Arial"/>
              <a:buChar char="•"/>
            </a:pPr>
            <a:r>
              <a:rPr lang="en-US" sz="1372" spc="-27" strike="noStrike" u="none">
                <a:solidFill>
                  <a:srgbClr val="1C191A"/>
                </a:solidFill>
                <a:latin typeface="Lato"/>
                <a:ea typeface="Lato"/>
                <a:cs typeface="Lato"/>
                <a:sym typeface="Lato"/>
              </a:rPr>
              <a:t>Adaptation multi-canal &amp; marketin</a:t>
            </a:r>
            <a:r>
              <a:rPr lang="en-US" sz="1372" spc="-27" strike="noStrike" u="none">
                <a:solidFill>
                  <a:srgbClr val="1C191A"/>
                </a:solidFill>
                <a:latin typeface="Lato"/>
                <a:ea typeface="Lato"/>
                <a:cs typeface="Lato"/>
                <a:sym typeface="Lato"/>
              </a:rPr>
              <a:t>g</a:t>
            </a:r>
            <a:r>
              <a:rPr lang="en-US" sz="1372" spc="-27" strike="noStrike" u="none">
                <a:solidFill>
                  <a:srgbClr val="1C191A"/>
                </a:solidFill>
                <a:latin typeface="Lato"/>
                <a:ea typeface="Lato"/>
                <a:cs typeface="Lato"/>
                <a:sym typeface="Lato"/>
              </a:rPr>
              <a:t> automati</a:t>
            </a:r>
            <a:r>
              <a:rPr lang="en-US" sz="1372" spc="-27" strike="noStrike" u="none">
                <a:solidFill>
                  <a:srgbClr val="1C191A"/>
                </a:solidFill>
                <a:latin typeface="Lato"/>
                <a:ea typeface="Lato"/>
                <a:cs typeface="Lato"/>
                <a:sym typeface="Lato"/>
              </a:rPr>
              <a:t>on</a:t>
            </a:r>
          </a:p>
          <a:p>
            <a:pPr algn="l" marL="296240" indent="-148120" lvl="1">
              <a:lnSpc>
                <a:spcPts val="1920"/>
              </a:lnSpc>
              <a:spcBef>
                <a:spcPct val="0"/>
              </a:spcBef>
              <a:buFont typeface="Arial"/>
              <a:buChar char="•"/>
            </a:pPr>
            <a:r>
              <a:rPr lang="en-US" sz="1372" spc="-27" strike="noStrike" u="none">
                <a:solidFill>
                  <a:srgbClr val="1C191A"/>
                </a:solidFill>
                <a:latin typeface="Lato"/>
                <a:ea typeface="Lato"/>
                <a:cs typeface="Lato"/>
                <a:sym typeface="Lato"/>
              </a:rPr>
              <a:t>V</a:t>
            </a:r>
            <a:r>
              <a:rPr lang="en-US" sz="1372" spc="-27" strike="noStrike" u="none">
                <a:solidFill>
                  <a:srgbClr val="1C191A"/>
                </a:solidFill>
                <a:latin typeface="Lato"/>
                <a:ea typeface="Lato"/>
                <a:cs typeface="Lato"/>
                <a:sym typeface="Lato"/>
              </a:rPr>
              <a:t>eille e-réputation </a:t>
            </a:r>
            <a:r>
              <a:rPr lang="en-US" sz="1372" spc="-27" strike="noStrike" u="none">
                <a:solidFill>
                  <a:srgbClr val="1C191A"/>
                </a:solidFill>
                <a:latin typeface="Lato"/>
                <a:ea typeface="Lato"/>
                <a:cs typeface="Lato"/>
                <a:sym typeface="Lato"/>
              </a:rPr>
              <a:t>&amp; médias</a:t>
            </a:r>
          </a:p>
        </p:txBody>
      </p:sp>
      <p:sp>
        <p:nvSpPr>
          <p:cNvPr name="TextBox 49" id="49"/>
          <p:cNvSpPr txBox="true"/>
          <p:nvPr/>
        </p:nvSpPr>
        <p:spPr>
          <a:xfrm rot="0">
            <a:off x="11044380" y="7948208"/>
            <a:ext cx="3290374" cy="629373"/>
          </a:xfrm>
          <a:prstGeom prst="rect">
            <a:avLst/>
          </a:prstGeom>
        </p:spPr>
        <p:txBody>
          <a:bodyPr anchor="t" rtlCol="false" tIns="0" lIns="0" bIns="0" rIns="0">
            <a:spAutoFit/>
          </a:bodyPr>
          <a:lstStyle/>
          <a:p>
            <a:pPr algn="l">
              <a:lnSpc>
                <a:spcPts val="2469"/>
              </a:lnSpc>
            </a:pPr>
            <a:r>
              <a:rPr lang="en-US" sz="2469" b="true">
                <a:solidFill>
                  <a:srgbClr val="253439"/>
                </a:solidFill>
                <a:latin typeface="Lato Bold"/>
                <a:ea typeface="Lato Bold"/>
                <a:cs typeface="Lato Bold"/>
                <a:sym typeface="Lato Bold"/>
              </a:rPr>
              <a:t>Ressources Humaines &amp; Paie</a:t>
            </a:r>
          </a:p>
        </p:txBody>
      </p:sp>
      <p:sp>
        <p:nvSpPr>
          <p:cNvPr name="TextBox 50" id="50"/>
          <p:cNvSpPr txBox="true"/>
          <p:nvPr/>
        </p:nvSpPr>
        <p:spPr>
          <a:xfrm rot="0">
            <a:off x="11044380" y="8741584"/>
            <a:ext cx="3576655" cy="728604"/>
          </a:xfrm>
          <a:prstGeom prst="rect">
            <a:avLst/>
          </a:prstGeom>
        </p:spPr>
        <p:txBody>
          <a:bodyPr anchor="t" rtlCol="false" tIns="0" lIns="0" bIns="0" rIns="0">
            <a:spAutoFit/>
          </a:bodyPr>
          <a:lstStyle/>
          <a:p>
            <a:pPr algn="l" marL="296240" indent="-148120" lvl="1">
              <a:lnSpc>
                <a:spcPts val="1920"/>
              </a:lnSpc>
              <a:spcBef>
                <a:spcPct val="0"/>
              </a:spcBef>
              <a:buFont typeface="Arial"/>
              <a:buChar char="•"/>
            </a:pPr>
            <a:r>
              <a:rPr lang="en-US" sz="1372" spc="-27">
                <a:solidFill>
                  <a:srgbClr val="1C191A"/>
                </a:solidFill>
                <a:latin typeface="Lato"/>
                <a:ea typeface="Lato"/>
                <a:cs typeface="Lato"/>
                <a:sym typeface="Lato"/>
              </a:rPr>
              <a:t>Tri</a:t>
            </a:r>
            <a:r>
              <a:rPr lang="en-US" sz="1372" spc="-27" strike="noStrike" u="none">
                <a:solidFill>
                  <a:srgbClr val="1C191A"/>
                </a:solidFill>
                <a:latin typeface="Lato"/>
                <a:ea typeface="Lato"/>
                <a:cs typeface="Lato"/>
                <a:sym typeface="Lato"/>
              </a:rPr>
              <a:t> &amp; synthèse des candidatures</a:t>
            </a:r>
          </a:p>
          <a:p>
            <a:pPr algn="l" marL="296240" indent="-148120" lvl="1">
              <a:lnSpc>
                <a:spcPts val="1920"/>
              </a:lnSpc>
              <a:spcBef>
                <a:spcPct val="0"/>
              </a:spcBef>
              <a:buFont typeface="Arial"/>
              <a:buChar char="•"/>
            </a:pPr>
            <a:r>
              <a:rPr lang="en-US" sz="1372" spc="-27" strike="noStrike" u="none">
                <a:solidFill>
                  <a:srgbClr val="1C191A"/>
                </a:solidFill>
                <a:latin typeface="Lato"/>
                <a:ea typeface="Lato"/>
                <a:cs typeface="Lato"/>
                <a:sym typeface="Lato"/>
              </a:rPr>
              <a:t>Répo</a:t>
            </a:r>
            <a:r>
              <a:rPr lang="en-US" sz="1372" spc="-27" strike="noStrike" u="none">
                <a:solidFill>
                  <a:srgbClr val="1C191A"/>
                </a:solidFill>
                <a:latin typeface="Lato"/>
                <a:ea typeface="Lato"/>
                <a:cs typeface="Lato"/>
                <a:sym typeface="Lato"/>
              </a:rPr>
              <a:t>n</a:t>
            </a:r>
            <a:r>
              <a:rPr lang="en-US" sz="1372" spc="-27" strike="noStrike" u="none">
                <a:solidFill>
                  <a:srgbClr val="1C191A"/>
                </a:solidFill>
                <a:latin typeface="Lato"/>
                <a:ea typeface="Lato"/>
                <a:cs typeface="Lato"/>
                <a:sym typeface="Lato"/>
              </a:rPr>
              <a:t>s</a:t>
            </a:r>
            <a:r>
              <a:rPr lang="en-US" sz="1372" spc="-27" strike="noStrike" u="none">
                <a:solidFill>
                  <a:srgbClr val="1C191A"/>
                </a:solidFill>
                <a:latin typeface="Lato"/>
                <a:ea typeface="Lato"/>
                <a:cs typeface="Lato"/>
                <a:sym typeface="Lato"/>
              </a:rPr>
              <a:t>e</a:t>
            </a:r>
            <a:r>
              <a:rPr lang="en-US" sz="1372" spc="-27" strike="noStrike" u="none">
                <a:solidFill>
                  <a:srgbClr val="1C191A"/>
                </a:solidFill>
                <a:latin typeface="Lato"/>
                <a:ea typeface="Lato"/>
                <a:cs typeface="Lato"/>
                <a:sym typeface="Lato"/>
              </a:rPr>
              <a:t>s</a:t>
            </a:r>
            <a:r>
              <a:rPr lang="en-US" sz="1372" spc="-27" strike="noStrike" u="none">
                <a:solidFill>
                  <a:srgbClr val="1C191A"/>
                </a:solidFill>
                <a:latin typeface="Lato"/>
                <a:ea typeface="Lato"/>
                <a:cs typeface="Lato"/>
                <a:sym typeface="Lato"/>
              </a:rPr>
              <a:t> R</a:t>
            </a:r>
            <a:r>
              <a:rPr lang="en-US" sz="1372" spc="-27" strike="noStrike" u="none">
                <a:solidFill>
                  <a:srgbClr val="1C191A"/>
                </a:solidFill>
                <a:latin typeface="Lato"/>
                <a:ea typeface="Lato"/>
                <a:cs typeface="Lato"/>
                <a:sym typeface="Lato"/>
              </a:rPr>
              <a:t>H</a:t>
            </a:r>
            <a:r>
              <a:rPr lang="en-US" sz="1372" spc="-27" strike="noStrike" u="none">
                <a:solidFill>
                  <a:srgbClr val="1C191A"/>
                </a:solidFill>
                <a:latin typeface="Lato"/>
                <a:ea typeface="Lato"/>
                <a:cs typeface="Lato"/>
                <a:sym typeface="Lato"/>
              </a:rPr>
              <a:t> de premier niveau</a:t>
            </a:r>
          </a:p>
          <a:p>
            <a:pPr algn="l" marL="296240" indent="-148120" lvl="1">
              <a:lnSpc>
                <a:spcPts val="1920"/>
              </a:lnSpc>
              <a:spcBef>
                <a:spcPct val="0"/>
              </a:spcBef>
              <a:buFont typeface="Arial"/>
              <a:buChar char="•"/>
            </a:pPr>
            <a:r>
              <a:rPr lang="en-US" sz="1372" spc="-27" strike="noStrike" u="none">
                <a:solidFill>
                  <a:srgbClr val="1C191A"/>
                </a:solidFill>
                <a:latin typeface="Lato"/>
                <a:ea typeface="Lato"/>
                <a:cs typeface="Lato"/>
                <a:sym typeface="Lato"/>
              </a:rPr>
              <a:t>C</a:t>
            </a:r>
            <a:r>
              <a:rPr lang="en-US" sz="1372" spc="-27" strike="noStrike" u="none">
                <a:solidFill>
                  <a:srgbClr val="1C191A"/>
                </a:solidFill>
                <a:latin typeface="Lato"/>
                <a:ea typeface="Lato"/>
                <a:cs typeface="Lato"/>
                <a:sym typeface="Lato"/>
              </a:rPr>
              <a:t>ontrôle</a:t>
            </a:r>
            <a:r>
              <a:rPr lang="en-US" sz="1372" spc="-27" strike="noStrike" u="none">
                <a:solidFill>
                  <a:srgbClr val="1C191A"/>
                </a:solidFill>
                <a:latin typeface="Lato"/>
                <a:ea typeface="Lato"/>
                <a:cs typeface="Lato"/>
                <a:sym typeface="Lato"/>
              </a:rPr>
              <a:t> des vari</a:t>
            </a:r>
            <a:r>
              <a:rPr lang="en-US" sz="1372" spc="-27" strike="noStrike" u="none">
                <a:solidFill>
                  <a:srgbClr val="1C191A"/>
                </a:solidFill>
                <a:latin typeface="Lato"/>
                <a:ea typeface="Lato"/>
                <a:cs typeface="Lato"/>
                <a:sym typeface="Lato"/>
              </a:rPr>
              <a:t>abl</a:t>
            </a:r>
            <a:r>
              <a:rPr lang="en-US" sz="1372" spc="-27" strike="noStrike" u="none">
                <a:solidFill>
                  <a:srgbClr val="1C191A"/>
                </a:solidFill>
                <a:latin typeface="Lato"/>
                <a:ea typeface="Lato"/>
                <a:cs typeface="Lato"/>
                <a:sym typeface="Lato"/>
              </a:rPr>
              <a:t>es de </a:t>
            </a:r>
            <a:r>
              <a:rPr lang="en-US" sz="1372" spc="-27" strike="noStrike" u="none">
                <a:solidFill>
                  <a:srgbClr val="1C191A"/>
                </a:solidFill>
                <a:latin typeface="Lato"/>
                <a:ea typeface="Lato"/>
                <a:cs typeface="Lato"/>
                <a:sym typeface="Lato"/>
              </a:rPr>
              <a:t>paie</a:t>
            </a:r>
          </a:p>
        </p:txBody>
      </p:sp>
      <p:grpSp>
        <p:nvGrpSpPr>
          <p:cNvPr name="Group 51" id="51"/>
          <p:cNvGrpSpPr/>
          <p:nvPr/>
        </p:nvGrpSpPr>
        <p:grpSpPr>
          <a:xfrm rot="0">
            <a:off x="9722245" y="3296998"/>
            <a:ext cx="411400" cy="411400"/>
            <a:chOff x="0" y="0"/>
            <a:chExt cx="812800" cy="812800"/>
          </a:xfrm>
        </p:grpSpPr>
        <p:sp>
          <p:nvSpPr>
            <p:cNvPr name="Freeform 52" id="5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4654A"/>
            </a:solidFill>
          </p:spPr>
        </p:sp>
        <p:sp>
          <p:nvSpPr>
            <p:cNvPr name="TextBox 53" id="53"/>
            <p:cNvSpPr txBox="true"/>
            <p:nvPr/>
          </p:nvSpPr>
          <p:spPr>
            <a:xfrm>
              <a:off x="76200" y="38100"/>
              <a:ext cx="660400" cy="698500"/>
            </a:xfrm>
            <a:prstGeom prst="rect">
              <a:avLst/>
            </a:prstGeom>
          </p:spPr>
          <p:txBody>
            <a:bodyPr anchor="ctr" rtlCol="false" tIns="50800" lIns="50800" bIns="50800" rIns="50800"/>
            <a:lstStyle/>
            <a:p>
              <a:pPr algn="ctr">
                <a:lnSpc>
                  <a:spcPts val="2799"/>
                </a:lnSpc>
              </a:pPr>
            </a:p>
          </p:txBody>
        </p:sp>
      </p:grpSp>
      <p:grpSp>
        <p:nvGrpSpPr>
          <p:cNvPr name="Group 54" id="54"/>
          <p:cNvGrpSpPr/>
          <p:nvPr/>
        </p:nvGrpSpPr>
        <p:grpSpPr>
          <a:xfrm rot="0">
            <a:off x="14129054" y="3307499"/>
            <a:ext cx="411400" cy="411400"/>
            <a:chOff x="0" y="0"/>
            <a:chExt cx="812800" cy="812800"/>
          </a:xfrm>
        </p:grpSpPr>
        <p:sp>
          <p:nvSpPr>
            <p:cNvPr name="Freeform 55" id="5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4654A"/>
            </a:solidFill>
          </p:spPr>
        </p:sp>
        <p:sp>
          <p:nvSpPr>
            <p:cNvPr name="TextBox 56" id="56"/>
            <p:cNvSpPr txBox="true"/>
            <p:nvPr/>
          </p:nvSpPr>
          <p:spPr>
            <a:xfrm>
              <a:off x="76200" y="38100"/>
              <a:ext cx="660400" cy="698500"/>
            </a:xfrm>
            <a:prstGeom prst="rect">
              <a:avLst/>
            </a:prstGeom>
          </p:spPr>
          <p:txBody>
            <a:bodyPr anchor="ctr" rtlCol="false" tIns="50800" lIns="50800" bIns="50800" rIns="50800"/>
            <a:lstStyle/>
            <a:p>
              <a:pPr algn="ctr">
                <a:lnSpc>
                  <a:spcPts val="2799"/>
                </a:lnSpc>
              </a:pPr>
            </a:p>
          </p:txBody>
        </p:sp>
      </p:grpSp>
      <p:grpSp>
        <p:nvGrpSpPr>
          <p:cNvPr name="Group 57" id="57"/>
          <p:cNvGrpSpPr/>
          <p:nvPr/>
        </p:nvGrpSpPr>
        <p:grpSpPr>
          <a:xfrm rot="0">
            <a:off x="5123283" y="5628829"/>
            <a:ext cx="411400" cy="411400"/>
            <a:chOff x="0" y="0"/>
            <a:chExt cx="812800" cy="812800"/>
          </a:xfrm>
        </p:grpSpPr>
        <p:sp>
          <p:nvSpPr>
            <p:cNvPr name="Freeform 58" id="5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4654A"/>
            </a:solidFill>
          </p:spPr>
        </p:sp>
        <p:sp>
          <p:nvSpPr>
            <p:cNvPr name="TextBox 59" id="59"/>
            <p:cNvSpPr txBox="true"/>
            <p:nvPr/>
          </p:nvSpPr>
          <p:spPr>
            <a:xfrm>
              <a:off x="76200" y="38100"/>
              <a:ext cx="660400" cy="698500"/>
            </a:xfrm>
            <a:prstGeom prst="rect">
              <a:avLst/>
            </a:prstGeom>
          </p:spPr>
          <p:txBody>
            <a:bodyPr anchor="ctr" rtlCol="false" tIns="50800" lIns="50800" bIns="50800" rIns="50800"/>
            <a:lstStyle/>
            <a:p>
              <a:pPr algn="ctr">
                <a:lnSpc>
                  <a:spcPts val="2799"/>
                </a:lnSpc>
              </a:pPr>
            </a:p>
          </p:txBody>
        </p:sp>
      </p:grpSp>
      <p:grpSp>
        <p:nvGrpSpPr>
          <p:cNvPr name="Group 60" id="60"/>
          <p:cNvGrpSpPr/>
          <p:nvPr/>
        </p:nvGrpSpPr>
        <p:grpSpPr>
          <a:xfrm rot="0">
            <a:off x="9722245" y="5628829"/>
            <a:ext cx="411400" cy="411400"/>
            <a:chOff x="0" y="0"/>
            <a:chExt cx="812800" cy="812800"/>
          </a:xfrm>
        </p:grpSpPr>
        <p:sp>
          <p:nvSpPr>
            <p:cNvPr name="Freeform 61" id="6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4654A"/>
            </a:solidFill>
          </p:spPr>
        </p:sp>
        <p:sp>
          <p:nvSpPr>
            <p:cNvPr name="TextBox 62" id="62"/>
            <p:cNvSpPr txBox="true"/>
            <p:nvPr/>
          </p:nvSpPr>
          <p:spPr>
            <a:xfrm>
              <a:off x="76200" y="38100"/>
              <a:ext cx="660400" cy="698500"/>
            </a:xfrm>
            <a:prstGeom prst="rect">
              <a:avLst/>
            </a:prstGeom>
          </p:spPr>
          <p:txBody>
            <a:bodyPr anchor="ctr" rtlCol="false" tIns="50800" lIns="50800" bIns="50800" rIns="50800"/>
            <a:lstStyle/>
            <a:p>
              <a:pPr algn="ctr">
                <a:lnSpc>
                  <a:spcPts val="2799"/>
                </a:lnSpc>
              </a:pPr>
            </a:p>
          </p:txBody>
        </p:sp>
      </p:grpSp>
      <p:grpSp>
        <p:nvGrpSpPr>
          <p:cNvPr name="Group 63" id="63"/>
          <p:cNvGrpSpPr/>
          <p:nvPr/>
        </p:nvGrpSpPr>
        <p:grpSpPr>
          <a:xfrm rot="0">
            <a:off x="14213656" y="5628829"/>
            <a:ext cx="411400" cy="411400"/>
            <a:chOff x="0" y="0"/>
            <a:chExt cx="812800" cy="812800"/>
          </a:xfrm>
        </p:grpSpPr>
        <p:sp>
          <p:nvSpPr>
            <p:cNvPr name="Freeform 64" id="6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2A468"/>
            </a:solidFill>
          </p:spPr>
        </p:sp>
        <p:sp>
          <p:nvSpPr>
            <p:cNvPr name="TextBox 65" id="65"/>
            <p:cNvSpPr txBox="true"/>
            <p:nvPr/>
          </p:nvSpPr>
          <p:spPr>
            <a:xfrm>
              <a:off x="76200" y="38100"/>
              <a:ext cx="660400" cy="698500"/>
            </a:xfrm>
            <a:prstGeom prst="rect">
              <a:avLst/>
            </a:prstGeom>
          </p:spPr>
          <p:txBody>
            <a:bodyPr anchor="ctr" rtlCol="false" tIns="50800" lIns="50800" bIns="50800" rIns="50800"/>
            <a:lstStyle/>
            <a:p>
              <a:pPr algn="ctr">
                <a:lnSpc>
                  <a:spcPts val="2799"/>
                </a:lnSpc>
              </a:pPr>
            </a:p>
          </p:txBody>
        </p:sp>
      </p:grpSp>
      <p:grpSp>
        <p:nvGrpSpPr>
          <p:cNvPr name="Group 66" id="66"/>
          <p:cNvGrpSpPr/>
          <p:nvPr/>
        </p:nvGrpSpPr>
        <p:grpSpPr>
          <a:xfrm rot="0">
            <a:off x="5123283" y="7955465"/>
            <a:ext cx="411400" cy="411400"/>
            <a:chOff x="0" y="0"/>
            <a:chExt cx="812800" cy="812800"/>
          </a:xfrm>
        </p:grpSpPr>
        <p:sp>
          <p:nvSpPr>
            <p:cNvPr name="Freeform 67" id="6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2A468"/>
            </a:solidFill>
          </p:spPr>
        </p:sp>
        <p:sp>
          <p:nvSpPr>
            <p:cNvPr name="TextBox 68" id="68"/>
            <p:cNvSpPr txBox="true"/>
            <p:nvPr/>
          </p:nvSpPr>
          <p:spPr>
            <a:xfrm>
              <a:off x="76200" y="38100"/>
              <a:ext cx="660400" cy="698500"/>
            </a:xfrm>
            <a:prstGeom prst="rect">
              <a:avLst/>
            </a:prstGeom>
          </p:spPr>
          <p:txBody>
            <a:bodyPr anchor="ctr" rtlCol="false" tIns="50800" lIns="50800" bIns="50800" rIns="50800"/>
            <a:lstStyle/>
            <a:p>
              <a:pPr algn="ctr">
                <a:lnSpc>
                  <a:spcPts val="2799"/>
                </a:lnSpc>
              </a:pPr>
            </a:p>
          </p:txBody>
        </p:sp>
      </p:grpSp>
      <p:grpSp>
        <p:nvGrpSpPr>
          <p:cNvPr name="Group 69" id="69"/>
          <p:cNvGrpSpPr/>
          <p:nvPr/>
        </p:nvGrpSpPr>
        <p:grpSpPr>
          <a:xfrm rot="0">
            <a:off x="9783059" y="7955465"/>
            <a:ext cx="411400" cy="411400"/>
            <a:chOff x="0" y="0"/>
            <a:chExt cx="812800" cy="812800"/>
          </a:xfrm>
        </p:grpSpPr>
        <p:sp>
          <p:nvSpPr>
            <p:cNvPr name="Freeform 70" id="7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2A468"/>
            </a:solidFill>
          </p:spPr>
        </p:sp>
        <p:sp>
          <p:nvSpPr>
            <p:cNvPr name="TextBox 71" id="71"/>
            <p:cNvSpPr txBox="true"/>
            <p:nvPr/>
          </p:nvSpPr>
          <p:spPr>
            <a:xfrm>
              <a:off x="76200" y="38100"/>
              <a:ext cx="660400" cy="698500"/>
            </a:xfrm>
            <a:prstGeom prst="rect">
              <a:avLst/>
            </a:prstGeom>
          </p:spPr>
          <p:txBody>
            <a:bodyPr anchor="ctr" rtlCol="false" tIns="50800" lIns="50800" bIns="50800" rIns="50800"/>
            <a:lstStyle/>
            <a:p>
              <a:pPr algn="ctr">
                <a:lnSpc>
                  <a:spcPts val="2799"/>
                </a:lnSpc>
              </a:pPr>
            </a:p>
          </p:txBody>
        </p:sp>
      </p:grpSp>
      <p:grpSp>
        <p:nvGrpSpPr>
          <p:cNvPr name="Group 72" id="72"/>
          <p:cNvGrpSpPr/>
          <p:nvPr/>
        </p:nvGrpSpPr>
        <p:grpSpPr>
          <a:xfrm rot="0">
            <a:off x="14334754" y="8012615"/>
            <a:ext cx="411400" cy="411400"/>
            <a:chOff x="0" y="0"/>
            <a:chExt cx="812800" cy="812800"/>
          </a:xfrm>
        </p:grpSpPr>
        <p:sp>
          <p:nvSpPr>
            <p:cNvPr name="Freeform 73" id="7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9876B"/>
            </a:solidFill>
          </p:spPr>
        </p:sp>
        <p:sp>
          <p:nvSpPr>
            <p:cNvPr name="TextBox 74" id="74"/>
            <p:cNvSpPr txBox="true"/>
            <p:nvPr/>
          </p:nvSpPr>
          <p:spPr>
            <a:xfrm>
              <a:off x="76200" y="38100"/>
              <a:ext cx="660400" cy="698500"/>
            </a:xfrm>
            <a:prstGeom prst="rect">
              <a:avLst/>
            </a:prstGeom>
          </p:spPr>
          <p:txBody>
            <a:bodyPr anchor="ctr" rtlCol="false" tIns="50800" lIns="50800" bIns="50800" rIns="50800"/>
            <a:lstStyle/>
            <a:p>
              <a:pPr algn="ctr">
                <a:lnSpc>
                  <a:spcPts val="2799"/>
                </a:lnSpc>
              </a:pPr>
            </a:p>
          </p:txBody>
        </p:sp>
      </p:grpSp>
      <p:grpSp>
        <p:nvGrpSpPr>
          <p:cNvPr name="Group 75" id="75"/>
          <p:cNvGrpSpPr/>
          <p:nvPr/>
        </p:nvGrpSpPr>
        <p:grpSpPr>
          <a:xfrm rot="0">
            <a:off x="11348091" y="1363137"/>
            <a:ext cx="267146" cy="267146"/>
            <a:chOff x="0" y="0"/>
            <a:chExt cx="812800" cy="812800"/>
          </a:xfrm>
        </p:grpSpPr>
        <p:sp>
          <p:nvSpPr>
            <p:cNvPr name="Freeform 76" id="7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4654A"/>
            </a:solidFill>
          </p:spPr>
        </p:sp>
        <p:sp>
          <p:nvSpPr>
            <p:cNvPr name="TextBox 77" id="77"/>
            <p:cNvSpPr txBox="true"/>
            <p:nvPr/>
          </p:nvSpPr>
          <p:spPr>
            <a:xfrm>
              <a:off x="76200" y="38100"/>
              <a:ext cx="660400" cy="698500"/>
            </a:xfrm>
            <a:prstGeom prst="rect">
              <a:avLst/>
            </a:prstGeom>
          </p:spPr>
          <p:txBody>
            <a:bodyPr anchor="ctr" rtlCol="false" tIns="50800" lIns="50800" bIns="50800" rIns="50800"/>
            <a:lstStyle/>
            <a:p>
              <a:pPr algn="ctr">
                <a:lnSpc>
                  <a:spcPts val="2799"/>
                </a:lnSpc>
              </a:pPr>
            </a:p>
          </p:txBody>
        </p:sp>
      </p:grpSp>
      <p:sp>
        <p:nvSpPr>
          <p:cNvPr name="TextBox 78" id="78"/>
          <p:cNvSpPr txBox="true"/>
          <p:nvPr/>
        </p:nvSpPr>
        <p:spPr>
          <a:xfrm rot="0">
            <a:off x="11759491" y="1381924"/>
            <a:ext cx="3576655" cy="248358"/>
          </a:xfrm>
          <a:prstGeom prst="rect">
            <a:avLst/>
          </a:prstGeom>
        </p:spPr>
        <p:txBody>
          <a:bodyPr anchor="t" rtlCol="false" tIns="0" lIns="0" bIns="0" rIns="0">
            <a:spAutoFit/>
          </a:bodyPr>
          <a:lstStyle/>
          <a:p>
            <a:pPr algn="l">
              <a:lnSpc>
                <a:spcPts val="2060"/>
              </a:lnSpc>
              <a:spcBef>
                <a:spcPct val="0"/>
              </a:spcBef>
            </a:pPr>
            <a:r>
              <a:rPr lang="en-US" sz="1472" spc="-29">
                <a:solidFill>
                  <a:srgbClr val="1C191A"/>
                </a:solidFill>
                <a:latin typeface="Lato"/>
                <a:ea typeface="Lato"/>
                <a:cs typeface="Lato"/>
                <a:sym typeface="Lato"/>
              </a:rPr>
              <a:t>élevé</a:t>
            </a:r>
          </a:p>
        </p:txBody>
      </p:sp>
      <p:sp>
        <p:nvSpPr>
          <p:cNvPr name="TextBox 79" id="79"/>
          <p:cNvSpPr txBox="true"/>
          <p:nvPr/>
        </p:nvSpPr>
        <p:spPr>
          <a:xfrm rot="0">
            <a:off x="11759491" y="895105"/>
            <a:ext cx="3576655" cy="307413"/>
          </a:xfrm>
          <a:prstGeom prst="rect">
            <a:avLst/>
          </a:prstGeom>
        </p:spPr>
        <p:txBody>
          <a:bodyPr anchor="t" rtlCol="false" tIns="0" lIns="0" bIns="0" rIns="0">
            <a:spAutoFit/>
          </a:bodyPr>
          <a:lstStyle/>
          <a:p>
            <a:pPr algn="l">
              <a:lnSpc>
                <a:spcPts val="2480"/>
              </a:lnSpc>
              <a:spcBef>
                <a:spcPct val="0"/>
              </a:spcBef>
            </a:pPr>
            <a:r>
              <a:rPr lang="en-US" sz="1772" spc="-35">
                <a:solidFill>
                  <a:srgbClr val="1C191A"/>
                </a:solidFill>
                <a:latin typeface="Lato"/>
                <a:ea typeface="Lato"/>
                <a:cs typeface="Lato"/>
                <a:sym typeface="Lato"/>
              </a:rPr>
              <a:t>IMPACT POTENTIEL</a:t>
            </a:r>
          </a:p>
        </p:txBody>
      </p:sp>
      <p:grpSp>
        <p:nvGrpSpPr>
          <p:cNvPr name="Group 80" id="80"/>
          <p:cNvGrpSpPr/>
          <p:nvPr/>
        </p:nvGrpSpPr>
        <p:grpSpPr>
          <a:xfrm rot="0">
            <a:off x="11357616" y="1792207"/>
            <a:ext cx="267146" cy="267146"/>
            <a:chOff x="0" y="0"/>
            <a:chExt cx="812800" cy="812800"/>
          </a:xfrm>
        </p:grpSpPr>
        <p:sp>
          <p:nvSpPr>
            <p:cNvPr name="Freeform 81" id="8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2A468"/>
            </a:solidFill>
          </p:spPr>
        </p:sp>
        <p:sp>
          <p:nvSpPr>
            <p:cNvPr name="TextBox 82" id="82"/>
            <p:cNvSpPr txBox="true"/>
            <p:nvPr/>
          </p:nvSpPr>
          <p:spPr>
            <a:xfrm>
              <a:off x="76200" y="38100"/>
              <a:ext cx="660400" cy="698500"/>
            </a:xfrm>
            <a:prstGeom prst="rect">
              <a:avLst/>
            </a:prstGeom>
          </p:spPr>
          <p:txBody>
            <a:bodyPr anchor="ctr" rtlCol="false" tIns="50800" lIns="50800" bIns="50800" rIns="50800"/>
            <a:lstStyle/>
            <a:p>
              <a:pPr algn="ctr">
                <a:lnSpc>
                  <a:spcPts val="2799"/>
                </a:lnSpc>
              </a:pPr>
            </a:p>
          </p:txBody>
        </p:sp>
      </p:grpSp>
      <p:sp>
        <p:nvSpPr>
          <p:cNvPr name="TextBox 83" id="83"/>
          <p:cNvSpPr txBox="true"/>
          <p:nvPr/>
        </p:nvSpPr>
        <p:spPr>
          <a:xfrm rot="0">
            <a:off x="11769016" y="1810995"/>
            <a:ext cx="3576655" cy="248358"/>
          </a:xfrm>
          <a:prstGeom prst="rect">
            <a:avLst/>
          </a:prstGeom>
        </p:spPr>
        <p:txBody>
          <a:bodyPr anchor="t" rtlCol="false" tIns="0" lIns="0" bIns="0" rIns="0">
            <a:spAutoFit/>
          </a:bodyPr>
          <a:lstStyle/>
          <a:p>
            <a:pPr algn="l">
              <a:lnSpc>
                <a:spcPts val="2060"/>
              </a:lnSpc>
              <a:spcBef>
                <a:spcPct val="0"/>
              </a:spcBef>
            </a:pPr>
            <a:r>
              <a:rPr lang="en-US" sz="1472" spc="-29">
                <a:solidFill>
                  <a:srgbClr val="1C191A"/>
                </a:solidFill>
                <a:latin typeface="Lato"/>
                <a:ea typeface="Lato"/>
                <a:cs typeface="Lato"/>
                <a:sym typeface="Lato"/>
              </a:rPr>
              <a:t>moyen-élevé</a:t>
            </a:r>
          </a:p>
        </p:txBody>
      </p:sp>
      <p:grpSp>
        <p:nvGrpSpPr>
          <p:cNvPr name="Group 84" id="84"/>
          <p:cNvGrpSpPr/>
          <p:nvPr/>
        </p:nvGrpSpPr>
        <p:grpSpPr>
          <a:xfrm rot="0">
            <a:off x="11357616" y="2221278"/>
            <a:ext cx="267146" cy="267146"/>
            <a:chOff x="0" y="0"/>
            <a:chExt cx="812800" cy="812800"/>
          </a:xfrm>
        </p:grpSpPr>
        <p:sp>
          <p:nvSpPr>
            <p:cNvPr name="Freeform 85" id="8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9876B"/>
            </a:solidFill>
          </p:spPr>
        </p:sp>
        <p:sp>
          <p:nvSpPr>
            <p:cNvPr name="TextBox 86" id="86"/>
            <p:cNvSpPr txBox="true"/>
            <p:nvPr/>
          </p:nvSpPr>
          <p:spPr>
            <a:xfrm>
              <a:off x="76200" y="38100"/>
              <a:ext cx="660400" cy="698500"/>
            </a:xfrm>
            <a:prstGeom prst="rect">
              <a:avLst/>
            </a:prstGeom>
          </p:spPr>
          <p:txBody>
            <a:bodyPr anchor="ctr" rtlCol="false" tIns="50800" lIns="50800" bIns="50800" rIns="50800"/>
            <a:lstStyle/>
            <a:p>
              <a:pPr algn="ctr">
                <a:lnSpc>
                  <a:spcPts val="2799"/>
                </a:lnSpc>
              </a:pPr>
            </a:p>
          </p:txBody>
        </p:sp>
      </p:grpSp>
      <p:sp>
        <p:nvSpPr>
          <p:cNvPr name="TextBox 87" id="87"/>
          <p:cNvSpPr txBox="true"/>
          <p:nvPr/>
        </p:nvSpPr>
        <p:spPr>
          <a:xfrm rot="0">
            <a:off x="11769016" y="2240066"/>
            <a:ext cx="3576655" cy="248358"/>
          </a:xfrm>
          <a:prstGeom prst="rect">
            <a:avLst/>
          </a:prstGeom>
        </p:spPr>
        <p:txBody>
          <a:bodyPr anchor="t" rtlCol="false" tIns="0" lIns="0" bIns="0" rIns="0">
            <a:spAutoFit/>
          </a:bodyPr>
          <a:lstStyle/>
          <a:p>
            <a:pPr algn="l">
              <a:lnSpc>
                <a:spcPts val="2060"/>
              </a:lnSpc>
              <a:spcBef>
                <a:spcPct val="0"/>
              </a:spcBef>
            </a:pPr>
            <a:r>
              <a:rPr lang="en-US" sz="1472" spc="-29">
                <a:solidFill>
                  <a:srgbClr val="1C191A"/>
                </a:solidFill>
                <a:latin typeface="Lato"/>
                <a:ea typeface="Lato"/>
                <a:cs typeface="Lato"/>
                <a:sym typeface="Lato"/>
              </a:rPr>
              <a:t>moyen</a:t>
            </a:r>
          </a:p>
        </p:txBody>
      </p:sp>
      <p:grpSp>
        <p:nvGrpSpPr>
          <p:cNvPr name="Group 88" id="88"/>
          <p:cNvGrpSpPr/>
          <p:nvPr/>
        </p:nvGrpSpPr>
        <p:grpSpPr>
          <a:xfrm rot="0">
            <a:off x="17035639" y="-218676"/>
            <a:ext cx="1410420" cy="10724351"/>
            <a:chOff x="0" y="0"/>
            <a:chExt cx="371469" cy="2824521"/>
          </a:xfrm>
        </p:grpSpPr>
        <p:sp>
          <p:nvSpPr>
            <p:cNvPr name="Freeform 89" id="89"/>
            <p:cNvSpPr/>
            <p:nvPr/>
          </p:nvSpPr>
          <p:spPr>
            <a:xfrm flipH="false" flipV="false" rot="0">
              <a:off x="0" y="0"/>
              <a:ext cx="371469" cy="2824520"/>
            </a:xfrm>
            <a:custGeom>
              <a:avLst/>
              <a:gdLst/>
              <a:ahLst/>
              <a:cxnLst/>
              <a:rect r="r" b="b" t="t" l="l"/>
              <a:pathLst>
                <a:path h="2824520" w="371469">
                  <a:moveTo>
                    <a:pt x="0" y="0"/>
                  </a:moveTo>
                  <a:lnTo>
                    <a:pt x="371469" y="0"/>
                  </a:lnTo>
                  <a:lnTo>
                    <a:pt x="371469" y="2824520"/>
                  </a:lnTo>
                  <a:lnTo>
                    <a:pt x="0" y="2824520"/>
                  </a:lnTo>
                  <a:close/>
                </a:path>
              </a:pathLst>
            </a:custGeom>
            <a:solidFill>
              <a:srgbClr val="E5E0DA"/>
            </a:solidFill>
          </p:spPr>
        </p:sp>
        <p:sp>
          <p:nvSpPr>
            <p:cNvPr name="TextBox 90" id="90"/>
            <p:cNvSpPr txBox="true"/>
            <p:nvPr/>
          </p:nvSpPr>
          <p:spPr>
            <a:xfrm>
              <a:off x="0" y="-38100"/>
              <a:ext cx="371469" cy="2862621"/>
            </a:xfrm>
            <a:prstGeom prst="rect">
              <a:avLst/>
            </a:prstGeom>
          </p:spPr>
          <p:txBody>
            <a:bodyPr anchor="ctr" rtlCol="false" tIns="50800" lIns="50800" bIns="50800" rIns="50800"/>
            <a:lstStyle/>
            <a:p>
              <a:pPr algn="ctr">
                <a:lnSpc>
                  <a:spcPts val="2799"/>
                </a:lnSpc>
              </a:pPr>
            </a:p>
          </p:txBody>
        </p:sp>
      </p:grpSp>
      <p:grpSp>
        <p:nvGrpSpPr>
          <p:cNvPr name="Group 91" id="91"/>
          <p:cNvGrpSpPr/>
          <p:nvPr/>
        </p:nvGrpSpPr>
        <p:grpSpPr>
          <a:xfrm rot="0">
            <a:off x="17035639" y="-78130"/>
            <a:ext cx="1258020" cy="1655660"/>
            <a:chOff x="0" y="0"/>
            <a:chExt cx="331330" cy="436059"/>
          </a:xfrm>
        </p:grpSpPr>
        <p:sp>
          <p:nvSpPr>
            <p:cNvPr name="Freeform 92" id="92"/>
            <p:cNvSpPr/>
            <p:nvPr/>
          </p:nvSpPr>
          <p:spPr>
            <a:xfrm flipH="false" flipV="false" rot="0">
              <a:off x="0" y="0"/>
              <a:ext cx="331330" cy="436059"/>
            </a:xfrm>
            <a:custGeom>
              <a:avLst/>
              <a:gdLst/>
              <a:ahLst/>
              <a:cxnLst/>
              <a:rect r="r" b="b" t="t" l="l"/>
              <a:pathLst>
                <a:path h="436059" w="331330">
                  <a:moveTo>
                    <a:pt x="0" y="0"/>
                  </a:moveTo>
                  <a:lnTo>
                    <a:pt x="331330" y="0"/>
                  </a:lnTo>
                  <a:lnTo>
                    <a:pt x="331330" y="436059"/>
                  </a:lnTo>
                  <a:lnTo>
                    <a:pt x="0" y="436059"/>
                  </a:lnTo>
                  <a:close/>
                </a:path>
              </a:pathLst>
            </a:custGeom>
            <a:solidFill>
              <a:srgbClr val="253439"/>
            </a:solidFill>
          </p:spPr>
        </p:sp>
        <p:sp>
          <p:nvSpPr>
            <p:cNvPr name="TextBox 93" id="93"/>
            <p:cNvSpPr txBox="true"/>
            <p:nvPr/>
          </p:nvSpPr>
          <p:spPr>
            <a:xfrm>
              <a:off x="0" y="-38100"/>
              <a:ext cx="331330" cy="474159"/>
            </a:xfrm>
            <a:prstGeom prst="rect">
              <a:avLst/>
            </a:prstGeom>
          </p:spPr>
          <p:txBody>
            <a:bodyPr anchor="ctr" rtlCol="false" tIns="50800" lIns="50800" bIns="50800" rIns="50800"/>
            <a:lstStyle/>
            <a:p>
              <a:pPr algn="ctr">
                <a:lnSpc>
                  <a:spcPts val="2799"/>
                </a:lnSpc>
              </a:pP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6F4F1"/>
        </a:solidFill>
      </p:bgPr>
    </p:bg>
    <p:spTree>
      <p:nvGrpSpPr>
        <p:cNvPr id="1" name=""/>
        <p:cNvGrpSpPr/>
        <p:nvPr/>
      </p:nvGrpSpPr>
      <p:grpSpPr>
        <a:xfrm>
          <a:off x="0" y="0"/>
          <a:ext cx="0" cy="0"/>
          <a:chOff x="0" y="0"/>
          <a:chExt cx="0" cy="0"/>
        </a:xfrm>
      </p:grpSpPr>
      <p:grpSp>
        <p:nvGrpSpPr>
          <p:cNvPr name="Group 2" id="2"/>
          <p:cNvGrpSpPr/>
          <p:nvPr/>
        </p:nvGrpSpPr>
        <p:grpSpPr>
          <a:xfrm rot="0">
            <a:off x="1656725" y="4470793"/>
            <a:ext cx="6062578" cy="3955815"/>
            <a:chOff x="0" y="0"/>
            <a:chExt cx="1596728" cy="1041861"/>
          </a:xfrm>
        </p:grpSpPr>
        <p:sp>
          <p:nvSpPr>
            <p:cNvPr name="Freeform 3" id="3"/>
            <p:cNvSpPr/>
            <p:nvPr/>
          </p:nvSpPr>
          <p:spPr>
            <a:xfrm flipH="false" flipV="false" rot="0">
              <a:off x="0" y="0"/>
              <a:ext cx="1596729" cy="1041861"/>
            </a:xfrm>
            <a:custGeom>
              <a:avLst/>
              <a:gdLst/>
              <a:ahLst/>
              <a:cxnLst/>
              <a:rect r="r" b="b" t="t" l="l"/>
              <a:pathLst>
                <a:path h="1041861" w="1596729">
                  <a:moveTo>
                    <a:pt x="0" y="0"/>
                  </a:moveTo>
                  <a:lnTo>
                    <a:pt x="1596729" y="0"/>
                  </a:lnTo>
                  <a:lnTo>
                    <a:pt x="1596729" y="1041861"/>
                  </a:lnTo>
                  <a:lnTo>
                    <a:pt x="0" y="1041861"/>
                  </a:lnTo>
                  <a:close/>
                </a:path>
              </a:pathLst>
            </a:custGeom>
            <a:solidFill>
              <a:srgbClr val="FFFFFF"/>
            </a:solidFill>
            <a:ln w="38100" cap="sq">
              <a:solidFill>
                <a:srgbClr val="253439"/>
              </a:solidFill>
              <a:prstDash val="solid"/>
              <a:miter/>
            </a:ln>
          </p:spPr>
        </p:sp>
        <p:sp>
          <p:nvSpPr>
            <p:cNvPr name="TextBox 4" id="4"/>
            <p:cNvSpPr txBox="true"/>
            <p:nvPr/>
          </p:nvSpPr>
          <p:spPr>
            <a:xfrm>
              <a:off x="0" y="-38100"/>
              <a:ext cx="1596728" cy="1079961"/>
            </a:xfrm>
            <a:prstGeom prst="rect">
              <a:avLst/>
            </a:prstGeom>
          </p:spPr>
          <p:txBody>
            <a:bodyPr anchor="ctr" rtlCol="false" tIns="50800" lIns="50800" bIns="50800" rIns="50800"/>
            <a:lstStyle/>
            <a:p>
              <a:pPr algn="ctr">
                <a:lnSpc>
                  <a:spcPts val="2799"/>
                </a:lnSpc>
              </a:pPr>
            </a:p>
          </p:txBody>
        </p:sp>
      </p:grpSp>
      <p:grpSp>
        <p:nvGrpSpPr>
          <p:cNvPr name="Group 5" id="5"/>
          <p:cNvGrpSpPr/>
          <p:nvPr/>
        </p:nvGrpSpPr>
        <p:grpSpPr>
          <a:xfrm rot="0">
            <a:off x="9144000" y="1248578"/>
            <a:ext cx="8213519" cy="1984377"/>
            <a:chOff x="0" y="0"/>
            <a:chExt cx="10951359" cy="2645835"/>
          </a:xfrm>
        </p:grpSpPr>
        <p:sp>
          <p:nvSpPr>
            <p:cNvPr name="Freeform 6" id="6"/>
            <p:cNvSpPr/>
            <p:nvPr/>
          </p:nvSpPr>
          <p:spPr>
            <a:xfrm flipH="false" flipV="false" rot="0">
              <a:off x="0" y="115673"/>
              <a:ext cx="318561" cy="397145"/>
            </a:xfrm>
            <a:custGeom>
              <a:avLst/>
              <a:gdLst/>
              <a:ahLst/>
              <a:cxnLst/>
              <a:rect r="r" b="b" t="t" l="l"/>
              <a:pathLst>
                <a:path h="397145" w="318561">
                  <a:moveTo>
                    <a:pt x="0" y="0"/>
                  </a:moveTo>
                  <a:lnTo>
                    <a:pt x="318561" y="0"/>
                  </a:lnTo>
                  <a:lnTo>
                    <a:pt x="318561" y="397146"/>
                  </a:lnTo>
                  <a:lnTo>
                    <a:pt x="0" y="3971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908038" y="-47625"/>
              <a:ext cx="10043320" cy="2693460"/>
            </a:xfrm>
            <a:prstGeom prst="rect">
              <a:avLst/>
            </a:prstGeom>
          </p:spPr>
          <p:txBody>
            <a:bodyPr anchor="t" rtlCol="false" tIns="0" lIns="0" bIns="0" rIns="0">
              <a:spAutoFit/>
            </a:bodyPr>
            <a:lstStyle/>
            <a:p>
              <a:pPr algn="l">
                <a:lnSpc>
                  <a:spcPts val="3442"/>
                </a:lnSpc>
              </a:pPr>
              <a:r>
                <a:rPr lang="en-US" sz="2459" spc="-49" b="true">
                  <a:solidFill>
                    <a:srgbClr val="1C191A"/>
                  </a:solidFill>
                  <a:latin typeface="Lato Bold"/>
                  <a:ea typeface="Lato Bold"/>
                  <a:cs typeface="Lato Bold"/>
                  <a:sym typeface="Lato Bold"/>
                </a:rPr>
                <a:t>Des automatisations uniques</a:t>
              </a:r>
            </a:p>
            <a:p>
              <a:pPr algn="l">
                <a:lnSpc>
                  <a:spcPts val="2550"/>
                </a:lnSpc>
              </a:pPr>
            </a:p>
            <a:p>
              <a:pPr algn="l">
                <a:lnSpc>
                  <a:spcPts val="2550"/>
                </a:lnSpc>
              </a:pPr>
              <a:r>
                <a:rPr lang="en-US" sz="1821" spc="-36">
                  <a:solidFill>
                    <a:srgbClr val="1C191A"/>
                  </a:solidFill>
                  <a:latin typeface="Lato"/>
                  <a:ea typeface="Lato"/>
                  <a:cs typeface="Lato"/>
                  <a:sym typeface="Lato"/>
                </a:rPr>
                <a:t>Age</a:t>
              </a:r>
              <a:r>
                <a:rPr lang="en-US" sz="1821" spc="-36" strike="noStrike" u="none">
                  <a:solidFill>
                    <a:srgbClr val="1C191A"/>
                  </a:solidFill>
                  <a:latin typeface="Lato"/>
                  <a:ea typeface="Lato"/>
                  <a:cs typeface="Lato"/>
                  <a:sym typeface="Lato"/>
                </a:rPr>
                <a:t>nts et workflows conçus pour vos métiers — analyses d'offres, montage de dossiers, pilotage et suivi de la commercialisaton des terrain, permis de constriuire. Là où un organisme s'arrête au tronc commun, on construit l'outil qui vous manque.</a:t>
              </a:r>
            </a:p>
          </p:txBody>
        </p:sp>
      </p:grpSp>
      <p:grpSp>
        <p:nvGrpSpPr>
          <p:cNvPr name="Group 8" id="8"/>
          <p:cNvGrpSpPr/>
          <p:nvPr/>
        </p:nvGrpSpPr>
        <p:grpSpPr>
          <a:xfrm rot="0">
            <a:off x="2215630" y="5164055"/>
            <a:ext cx="4944768" cy="3074271"/>
            <a:chOff x="0" y="0"/>
            <a:chExt cx="6593024" cy="4099028"/>
          </a:xfrm>
        </p:grpSpPr>
        <p:sp>
          <p:nvSpPr>
            <p:cNvPr name="TextBox 9" id="9"/>
            <p:cNvSpPr txBox="true"/>
            <p:nvPr/>
          </p:nvSpPr>
          <p:spPr>
            <a:xfrm rot="0">
              <a:off x="0" y="19050"/>
              <a:ext cx="6593024" cy="549063"/>
            </a:xfrm>
            <a:prstGeom prst="rect">
              <a:avLst/>
            </a:prstGeom>
          </p:spPr>
          <p:txBody>
            <a:bodyPr anchor="t" rtlCol="false" tIns="0" lIns="0" bIns="0" rIns="0">
              <a:spAutoFit/>
            </a:bodyPr>
            <a:lstStyle/>
            <a:p>
              <a:pPr algn="l" marL="0" indent="0" lvl="0">
                <a:lnSpc>
                  <a:spcPts val="3079"/>
                </a:lnSpc>
                <a:spcBef>
                  <a:spcPct val="0"/>
                </a:spcBef>
              </a:pPr>
              <a:r>
                <a:rPr lang="en-US" b="true" sz="2799">
                  <a:solidFill>
                    <a:srgbClr val="253439"/>
                  </a:solidFill>
                  <a:latin typeface="Lato Bold"/>
                  <a:ea typeface="Lato Bold"/>
                  <a:cs typeface="Lato Bold"/>
                  <a:sym typeface="Lato Bold"/>
                </a:rPr>
                <a:t>Vous avez choisi MyIA</a:t>
              </a:r>
            </a:p>
          </p:txBody>
        </p:sp>
        <p:sp>
          <p:nvSpPr>
            <p:cNvPr name="TextBox 10" id="10"/>
            <p:cNvSpPr txBox="true"/>
            <p:nvPr/>
          </p:nvSpPr>
          <p:spPr>
            <a:xfrm rot="0">
              <a:off x="0" y="839361"/>
              <a:ext cx="6204950" cy="3259667"/>
            </a:xfrm>
            <a:prstGeom prst="rect">
              <a:avLst/>
            </a:prstGeom>
          </p:spPr>
          <p:txBody>
            <a:bodyPr anchor="t" rtlCol="false" tIns="0" lIns="0" bIns="0" rIns="0">
              <a:spAutoFit/>
            </a:bodyPr>
            <a:lstStyle/>
            <a:p>
              <a:pPr algn="l">
                <a:lnSpc>
                  <a:spcPts val="2799"/>
                </a:lnSpc>
              </a:pPr>
              <a:r>
                <a:rPr lang="en-US" sz="1999" spc="-39">
                  <a:solidFill>
                    <a:srgbClr val="1C191A"/>
                  </a:solidFill>
                  <a:latin typeface="Lato"/>
                  <a:ea typeface="Lato"/>
                  <a:cs typeface="Lato"/>
                  <a:sym typeface="Lato"/>
                </a:rPr>
                <a:t>En plus d’améliorer le quotidien et l’efficacité des collaborateurs, l’accompagnement Wabi Sabi peut vous aider conjointement à cette solution, pour une approche plus spécifique à vos enjeux.</a:t>
              </a:r>
            </a:p>
            <a:p>
              <a:pPr algn="l">
                <a:lnSpc>
                  <a:spcPts val="2799"/>
                </a:lnSpc>
              </a:pPr>
              <a:r>
                <a:rPr lang="en-US" sz="1999" spc="-39">
                  <a:solidFill>
                    <a:srgbClr val="1C191A"/>
                  </a:solidFill>
                  <a:latin typeface="Lato"/>
                  <a:ea typeface="Lato"/>
                  <a:cs typeface="Lato"/>
                  <a:sym typeface="Lato"/>
                </a:rPr>
                <a:t>Voici ce qu’on vous apporte.</a:t>
              </a:r>
            </a:p>
            <a:p>
              <a:pPr algn="l" marL="0" indent="0" lvl="0">
                <a:lnSpc>
                  <a:spcPts val="2799"/>
                </a:lnSpc>
                <a:spcBef>
                  <a:spcPct val="0"/>
                </a:spcBef>
              </a:pPr>
            </a:p>
          </p:txBody>
        </p:sp>
      </p:grpSp>
      <p:sp>
        <p:nvSpPr>
          <p:cNvPr name="TextBox 11" id="11"/>
          <p:cNvSpPr txBox="true"/>
          <p:nvPr/>
        </p:nvSpPr>
        <p:spPr>
          <a:xfrm rot="0">
            <a:off x="1656725" y="1735712"/>
            <a:ext cx="6062578" cy="2079626"/>
          </a:xfrm>
          <a:prstGeom prst="rect">
            <a:avLst/>
          </a:prstGeom>
        </p:spPr>
        <p:txBody>
          <a:bodyPr anchor="t" rtlCol="false" tIns="0" lIns="0" bIns="0" rIns="0">
            <a:spAutoFit/>
          </a:bodyPr>
          <a:lstStyle/>
          <a:p>
            <a:pPr algn="just" marL="0" indent="0" lvl="0">
              <a:lnSpc>
                <a:spcPts val="8000"/>
              </a:lnSpc>
              <a:spcBef>
                <a:spcPct val="0"/>
              </a:spcBef>
            </a:pPr>
            <a:r>
              <a:rPr lang="en-US" sz="8000">
                <a:solidFill>
                  <a:srgbClr val="253439"/>
                </a:solidFill>
                <a:latin typeface="Lato"/>
                <a:ea typeface="Lato"/>
                <a:cs typeface="Lato"/>
                <a:sym typeface="Lato"/>
              </a:rPr>
              <a:t>Parlons concret.</a:t>
            </a:r>
          </a:p>
        </p:txBody>
      </p:sp>
      <p:grpSp>
        <p:nvGrpSpPr>
          <p:cNvPr name="Group 12" id="12"/>
          <p:cNvGrpSpPr/>
          <p:nvPr/>
        </p:nvGrpSpPr>
        <p:grpSpPr>
          <a:xfrm rot="0">
            <a:off x="9144000" y="3492364"/>
            <a:ext cx="8213519" cy="1663383"/>
            <a:chOff x="0" y="0"/>
            <a:chExt cx="10951359" cy="2217844"/>
          </a:xfrm>
        </p:grpSpPr>
        <p:sp>
          <p:nvSpPr>
            <p:cNvPr name="Freeform 13" id="13"/>
            <p:cNvSpPr/>
            <p:nvPr/>
          </p:nvSpPr>
          <p:spPr>
            <a:xfrm flipH="false" flipV="false" rot="0">
              <a:off x="0" y="115673"/>
              <a:ext cx="318561" cy="397145"/>
            </a:xfrm>
            <a:custGeom>
              <a:avLst/>
              <a:gdLst/>
              <a:ahLst/>
              <a:cxnLst/>
              <a:rect r="r" b="b" t="t" l="l"/>
              <a:pathLst>
                <a:path h="397145" w="318561">
                  <a:moveTo>
                    <a:pt x="0" y="0"/>
                  </a:moveTo>
                  <a:lnTo>
                    <a:pt x="318561" y="0"/>
                  </a:lnTo>
                  <a:lnTo>
                    <a:pt x="318561" y="397146"/>
                  </a:lnTo>
                  <a:lnTo>
                    <a:pt x="0" y="3971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4" id="14"/>
            <p:cNvSpPr txBox="true"/>
            <p:nvPr/>
          </p:nvSpPr>
          <p:spPr>
            <a:xfrm rot="0">
              <a:off x="908038" y="-47625"/>
              <a:ext cx="10043320" cy="2265469"/>
            </a:xfrm>
            <a:prstGeom prst="rect">
              <a:avLst/>
            </a:prstGeom>
          </p:spPr>
          <p:txBody>
            <a:bodyPr anchor="t" rtlCol="false" tIns="0" lIns="0" bIns="0" rIns="0">
              <a:spAutoFit/>
            </a:bodyPr>
            <a:lstStyle/>
            <a:p>
              <a:pPr algn="l">
                <a:lnSpc>
                  <a:spcPts val="3442"/>
                </a:lnSpc>
              </a:pPr>
              <a:r>
                <a:rPr lang="en-US" sz="2459" spc="-49" b="true">
                  <a:solidFill>
                    <a:srgbClr val="1C191A"/>
                  </a:solidFill>
                  <a:latin typeface="Lato Bold"/>
                  <a:ea typeface="Lato Bold"/>
                  <a:cs typeface="Lato Bold"/>
                  <a:sym typeface="Lato Bold"/>
                </a:rPr>
                <a:t>MyIA, poussé bien plus loin</a:t>
              </a:r>
            </a:p>
            <a:p>
              <a:pPr algn="l">
                <a:lnSpc>
                  <a:spcPts val="2550"/>
                </a:lnSpc>
              </a:pPr>
            </a:p>
            <a:p>
              <a:pPr algn="l">
                <a:lnSpc>
                  <a:spcPts val="2550"/>
                </a:lnSpc>
              </a:pPr>
              <a:r>
                <a:rPr lang="en-US" sz="1821" spc="-36">
                  <a:solidFill>
                    <a:srgbClr val="1C191A"/>
                  </a:solidFill>
                  <a:latin typeface="Lato"/>
                  <a:ea typeface="Lato"/>
                  <a:cs typeface="Lato"/>
                  <a:sym typeface="Lato"/>
                </a:rPr>
                <a:t>O</a:t>
              </a:r>
              <a:r>
                <a:rPr lang="en-US" sz="1821" spc="-36" strike="noStrike" u="none">
                  <a:solidFill>
                    <a:srgbClr val="1C191A"/>
                  </a:solidFill>
                  <a:latin typeface="Lato"/>
                  <a:ea typeface="Lato"/>
                  <a:cs typeface="Lato"/>
                  <a:sym typeface="Lato"/>
                </a:rPr>
                <a:t>n part de ce que MyIA fait déjà bien et on l'étend : intégrations, automatisations et cas d'usage avancés qu'un outil livré seul ne couvre pas. Complémentaire, jamais redondant.</a:t>
              </a:r>
            </a:p>
          </p:txBody>
        </p:sp>
      </p:grpSp>
      <p:grpSp>
        <p:nvGrpSpPr>
          <p:cNvPr name="Group 15" id="15"/>
          <p:cNvGrpSpPr/>
          <p:nvPr/>
        </p:nvGrpSpPr>
        <p:grpSpPr>
          <a:xfrm rot="0">
            <a:off x="9144000" y="5752765"/>
            <a:ext cx="8213519" cy="1663383"/>
            <a:chOff x="0" y="0"/>
            <a:chExt cx="10951359" cy="2217844"/>
          </a:xfrm>
        </p:grpSpPr>
        <p:sp>
          <p:nvSpPr>
            <p:cNvPr name="Freeform 16" id="16"/>
            <p:cNvSpPr/>
            <p:nvPr/>
          </p:nvSpPr>
          <p:spPr>
            <a:xfrm flipH="false" flipV="false" rot="0">
              <a:off x="0" y="115673"/>
              <a:ext cx="318561" cy="397145"/>
            </a:xfrm>
            <a:custGeom>
              <a:avLst/>
              <a:gdLst/>
              <a:ahLst/>
              <a:cxnLst/>
              <a:rect r="r" b="b" t="t" l="l"/>
              <a:pathLst>
                <a:path h="397145" w="318561">
                  <a:moveTo>
                    <a:pt x="0" y="0"/>
                  </a:moveTo>
                  <a:lnTo>
                    <a:pt x="318561" y="0"/>
                  </a:lnTo>
                  <a:lnTo>
                    <a:pt x="318561" y="397146"/>
                  </a:lnTo>
                  <a:lnTo>
                    <a:pt x="0" y="3971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7" id="17"/>
            <p:cNvSpPr txBox="true"/>
            <p:nvPr/>
          </p:nvSpPr>
          <p:spPr>
            <a:xfrm rot="0">
              <a:off x="908038" y="-47625"/>
              <a:ext cx="10043320" cy="2265469"/>
            </a:xfrm>
            <a:prstGeom prst="rect">
              <a:avLst/>
            </a:prstGeom>
          </p:spPr>
          <p:txBody>
            <a:bodyPr anchor="t" rtlCol="false" tIns="0" lIns="0" bIns="0" rIns="0">
              <a:spAutoFit/>
            </a:bodyPr>
            <a:lstStyle/>
            <a:p>
              <a:pPr algn="l">
                <a:lnSpc>
                  <a:spcPts val="3442"/>
                </a:lnSpc>
              </a:pPr>
              <a:r>
                <a:rPr lang="en-US" sz="2459" spc="-49" b="true">
                  <a:solidFill>
                    <a:srgbClr val="1C191A"/>
                  </a:solidFill>
                  <a:latin typeface="Lato Bold"/>
                  <a:ea typeface="Lato Bold"/>
                  <a:cs typeface="Lato Bold"/>
                  <a:sym typeface="Lato Bold"/>
                </a:rPr>
                <a:t>Une montée en compétence spécifique </a:t>
              </a:r>
            </a:p>
            <a:p>
              <a:pPr algn="l">
                <a:lnSpc>
                  <a:spcPts val="2550"/>
                </a:lnSpc>
              </a:pPr>
            </a:p>
            <a:p>
              <a:pPr algn="l">
                <a:lnSpc>
                  <a:spcPts val="2550"/>
                </a:lnSpc>
              </a:pPr>
              <a:r>
                <a:rPr lang="en-US" sz="1821" spc="-36">
                  <a:solidFill>
                    <a:srgbClr val="1C191A"/>
                  </a:solidFill>
                  <a:latin typeface="Lato"/>
                  <a:ea typeface="Lato"/>
                  <a:cs typeface="Lato"/>
                  <a:sym typeface="Lato"/>
                </a:rPr>
                <a:t>Un déploiement IA sans suivi, c'est une belle démo oubliée en 3 semaines. </a:t>
              </a:r>
            </a:p>
            <a:p>
              <a:pPr algn="l">
                <a:lnSpc>
                  <a:spcPts val="2550"/>
                </a:lnSpc>
              </a:pPr>
              <a:r>
                <a:rPr lang="en-US" sz="1821" spc="-36">
                  <a:solidFill>
                    <a:srgbClr val="1C191A"/>
                  </a:solidFill>
                  <a:latin typeface="Lato"/>
                  <a:ea typeface="Lato"/>
                  <a:cs typeface="Lato"/>
                  <a:sym typeface="Lato"/>
                </a:rPr>
                <a:t>On vous propose suivi et veille continue par métier.</a:t>
              </a:r>
            </a:p>
            <a:p>
              <a:pPr algn="l">
                <a:lnSpc>
                  <a:spcPts val="2550"/>
                </a:lnSpc>
              </a:pPr>
            </a:p>
          </p:txBody>
        </p:sp>
      </p:grpSp>
      <p:grpSp>
        <p:nvGrpSpPr>
          <p:cNvPr name="Group 18" id="18"/>
          <p:cNvGrpSpPr/>
          <p:nvPr/>
        </p:nvGrpSpPr>
        <p:grpSpPr>
          <a:xfrm rot="0">
            <a:off x="9144000" y="7594917"/>
            <a:ext cx="8213519" cy="1663383"/>
            <a:chOff x="0" y="0"/>
            <a:chExt cx="10951359" cy="2217844"/>
          </a:xfrm>
        </p:grpSpPr>
        <p:sp>
          <p:nvSpPr>
            <p:cNvPr name="Freeform 19" id="19"/>
            <p:cNvSpPr/>
            <p:nvPr/>
          </p:nvSpPr>
          <p:spPr>
            <a:xfrm flipH="false" flipV="false" rot="0">
              <a:off x="0" y="115673"/>
              <a:ext cx="318561" cy="397145"/>
            </a:xfrm>
            <a:custGeom>
              <a:avLst/>
              <a:gdLst/>
              <a:ahLst/>
              <a:cxnLst/>
              <a:rect r="r" b="b" t="t" l="l"/>
              <a:pathLst>
                <a:path h="397145" w="318561">
                  <a:moveTo>
                    <a:pt x="0" y="0"/>
                  </a:moveTo>
                  <a:lnTo>
                    <a:pt x="318561" y="0"/>
                  </a:lnTo>
                  <a:lnTo>
                    <a:pt x="318561" y="397146"/>
                  </a:lnTo>
                  <a:lnTo>
                    <a:pt x="0" y="3971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0" id="20"/>
            <p:cNvSpPr txBox="true"/>
            <p:nvPr/>
          </p:nvSpPr>
          <p:spPr>
            <a:xfrm rot="0">
              <a:off x="908038" y="-47625"/>
              <a:ext cx="10043320" cy="2265469"/>
            </a:xfrm>
            <a:prstGeom prst="rect">
              <a:avLst/>
            </a:prstGeom>
          </p:spPr>
          <p:txBody>
            <a:bodyPr anchor="t" rtlCol="false" tIns="0" lIns="0" bIns="0" rIns="0">
              <a:spAutoFit/>
            </a:bodyPr>
            <a:lstStyle/>
            <a:p>
              <a:pPr algn="l">
                <a:lnSpc>
                  <a:spcPts val="3442"/>
                </a:lnSpc>
              </a:pPr>
              <a:r>
                <a:rPr lang="en-US" sz="2459" spc="-49" b="true">
                  <a:solidFill>
                    <a:srgbClr val="1C191A"/>
                  </a:solidFill>
                  <a:latin typeface="Lato Bold"/>
                  <a:ea typeface="Lato Bold"/>
                  <a:cs typeface="Lato Bold"/>
                  <a:sym typeface="Lato Bold"/>
                </a:rPr>
                <a:t>Création d’une charte IA</a:t>
              </a:r>
            </a:p>
            <a:p>
              <a:pPr algn="l">
                <a:lnSpc>
                  <a:spcPts val="2550"/>
                </a:lnSpc>
              </a:pPr>
            </a:p>
            <a:p>
              <a:pPr algn="l">
                <a:lnSpc>
                  <a:spcPts val="2550"/>
                </a:lnSpc>
              </a:pPr>
              <a:r>
                <a:rPr lang="en-US" sz="1821" spc="-36">
                  <a:solidFill>
                    <a:srgbClr val="1C191A"/>
                  </a:solidFill>
                  <a:latin typeface="Lato"/>
                  <a:ea typeface="Lato"/>
                  <a:cs typeface="Lato"/>
                  <a:sym typeface="Lato"/>
                </a:rPr>
                <a:t>On crée le guide des bonnes pratiques d’utilisation IA pour maitriser les risques liés à l’utilisation de vos données.</a:t>
              </a:r>
            </a:p>
            <a:p>
              <a:pPr algn="l">
                <a:lnSpc>
                  <a:spcPts val="2550"/>
                </a:lnSpc>
              </a:pPr>
            </a:p>
          </p:txBody>
        </p:sp>
      </p:grpSp>
    </p:spTree>
  </p:cSld>
  <p:clrMapOvr>
    <a:masterClrMapping/>
  </p:clrMapOvr>
</p:sld>
</file>

<file path=ppt/slides/slide5.xml><?xml version="1.0" encoding="utf-8"?>
<p:sld xmlns:p="http://schemas.openxmlformats.org/presentationml/2006/main" xmlns:a="http://schemas.openxmlformats.org/drawingml/2006/main">
  <p:cSld>
    <p:bg>
      <p:bgPr>
        <a:solidFill>
          <a:srgbClr val="F6F4F1"/>
        </a:solidFill>
      </p:bgPr>
    </p:bg>
    <p:spTree>
      <p:nvGrpSpPr>
        <p:cNvPr id="1" name=""/>
        <p:cNvGrpSpPr/>
        <p:nvPr/>
      </p:nvGrpSpPr>
      <p:grpSpPr>
        <a:xfrm>
          <a:off x="0" y="0"/>
          <a:ext cx="0" cy="0"/>
          <a:chOff x="0" y="0"/>
          <a:chExt cx="0" cy="0"/>
        </a:xfrm>
      </p:grpSpPr>
      <p:sp>
        <p:nvSpPr>
          <p:cNvPr name="TextBox 2" id="2"/>
          <p:cNvSpPr txBox="true"/>
          <p:nvPr/>
        </p:nvSpPr>
        <p:spPr>
          <a:xfrm rot="0">
            <a:off x="1278719" y="1527684"/>
            <a:ext cx="15730563" cy="2854964"/>
          </a:xfrm>
          <a:prstGeom prst="rect">
            <a:avLst/>
          </a:prstGeom>
        </p:spPr>
        <p:txBody>
          <a:bodyPr anchor="t" rtlCol="false" tIns="0" lIns="0" bIns="0" rIns="0">
            <a:spAutoFit/>
          </a:bodyPr>
          <a:lstStyle/>
          <a:p>
            <a:pPr algn="ctr">
              <a:lnSpc>
                <a:spcPts val="7400"/>
              </a:lnSpc>
            </a:pPr>
            <a:r>
              <a:rPr lang="en-US" sz="7400">
                <a:solidFill>
                  <a:srgbClr val="253439"/>
                </a:solidFill>
                <a:latin typeface="Lato"/>
                <a:ea typeface="Lato"/>
                <a:cs typeface="Lato"/>
                <a:sym typeface="Lato"/>
              </a:rPr>
              <a:t>Vous êtes une structure publique. </a:t>
            </a:r>
          </a:p>
          <a:p>
            <a:pPr algn="ctr" marL="0" indent="0" lvl="0">
              <a:lnSpc>
                <a:spcPts val="7400"/>
              </a:lnSpc>
              <a:spcBef>
                <a:spcPct val="0"/>
              </a:spcBef>
            </a:pPr>
            <a:r>
              <a:rPr lang="en-US" sz="7400">
                <a:solidFill>
                  <a:srgbClr val="253439"/>
                </a:solidFill>
                <a:latin typeface="Lato"/>
                <a:ea typeface="Lato"/>
                <a:cs typeface="Lato"/>
                <a:sym typeface="Lato"/>
              </a:rPr>
              <a:t>Vos données ne sont pas négociables.</a:t>
            </a:r>
          </a:p>
          <a:p>
            <a:pPr algn="ctr" marL="0" indent="0" lvl="0">
              <a:lnSpc>
                <a:spcPts val="7400"/>
              </a:lnSpc>
              <a:spcBef>
                <a:spcPct val="0"/>
              </a:spcBef>
            </a:pPr>
          </a:p>
        </p:txBody>
      </p:sp>
      <p:sp>
        <p:nvSpPr>
          <p:cNvPr name="TextBox 3" id="3"/>
          <p:cNvSpPr txBox="true"/>
          <p:nvPr/>
        </p:nvSpPr>
        <p:spPr>
          <a:xfrm rot="0">
            <a:off x="1489573" y="4213856"/>
            <a:ext cx="8343432" cy="5459095"/>
          </a:xfrm>
          <a:prstGeom prst="rect">
            <a:avLst/>
          </a:prstGeom>
        </p:spPr>
        <p:txBody>
          <a:bodyPr anchor="t" rtlCol="false" tIns="0" lIns="0" bIns="0" rIns="0">
            <a:spAutoFit/>
          </a:bodyPr>
          <a:lstStyle/>
          <a:p>
            <a:pPr algn="l">
              <a:lnSpc>
                <a:spcPts val="3079"/>
              </a:lnSpc>
            </a:pPr>
            <a:r>
              <a:rPr lang="en-US" sz="2199" spc="-43">
                <a:solidFill>
                  <a:srgbClr val="1C191A"/>
                </a:solidFill>
                <a:latin typeface="Lato"/>
                <a:ea typeface="Lato"/>
                <a:cs typeface="Lato"/>
                <a:sym typeface="Lato"/>
              </a:rPr>
              <a:t>La SEMEPA opère dans un cadre public, avec des obligations de transparence, de conformité et de protection des données sensibles.</a:t>
            </a:r>
          </a:p>
          <a:p>
            <a:pPr algn="l">
              <a:lnSpc>
                <a:spcPts val="3079"/>
              </a:lnSpc>
            </a:pPr>
          </a:p>
          <a:p>
            <a:pPr algn="l">
              <a:lnSpc>
                <a:spcPts val="3079"/>
              </a:lnSpc>
            </a:pPr>
            <a:r>
              <a:rPr lang="en-US" sz="2199" spc="-43">
                <a:solidFill>
                  <a:srgbClr val="1C191A"/>
                </a:solidFill>
                <a:latin typeface="Lato"/>
                <a:ea typeface="Lato"/>
                <a:cs typeface="Lato"/>
                <a:sym typeface="Lato"/>
              </a:rPr>
              <a:t>Notre approche les intègre dès le départ.</a:t>
            </a:r>
          </a:p>
          <a:p>
            <a:pPr algn="l">
              <a:lnSpc>
                <a:spcPts val="3079"/>
              </a:lnSpc>
            </a:pPr>
          </a:p>
          <a:p>
            <a:pPr algn="l" marL="474978" indent="-237489" lvl="1">
              <a:lnSpc>
                <a:spcPts val="3079"/>
              </a:lnSpc>
              <a:buFont typeface="Arial"/>
              <a:buChar char="•"/>
            </a:pPr>
            <a:r>
              <a:rPr lang="en-US" sz="2199" spc="-43">
                <a:solidFill>
                  <a:srgbClr val="1C191A"/>
                </a:solidFill>
                <a:latin typeface="Lato"/>
                <a:ea typeface="Lato"/>
                <a:cs typeface="Lato"/>
                <a:sym typeface="Lato"/>
              </a:rPr>
              <a:t>Une charte IA adaptée à vos obligations légales et à votre culture interne</a:t>
            </a:r>
          </a:p>
          <a:p>
            <a:pPr algn="l" marL="474978" indent="-237489" lvl="1">
              <a:lnSpc>
                <a:spcPts val="3079"/>
              </a:lnSpc>
              <a:buFont typeface="Arial"/>
              <a:buChar char="•"/>
            </a:pPr>
            <a:r>
              <a:rPr lang="en-US" sz="2199" spc="-43">
                <a:solidFill>
                  <a:srgbClr val="1C191A"/>
                </a:solidFill>
                <a:latin typeface="Lato"/>
                <a:ea typeface="Lato"/>
                <a:cs typeface="Lato"/>
                <a:sym typeface="Lato"/>
              </a:rPr>
              <a:t>Des architectures sécurisées : vos données ne transitent pas par des services non maîtrisés</a:t>
            </a:r>
          </a:p>
          <a:p>
            <a:pPr algn="l" marL="474978" indent="-237489" lvl="1">
              <a:lnSpc>
                <a:spcPts val="3079"/>
              </a:lnSpc>
              <a:buFont typeface="Arial"/>
              <a:buChar char="•"/>
            </a:pPr>
            <a:r>
              <a:rPr lang="en-US" sz="2199" spc="-43">
                <a:solidFill>
                  <a:srgbClr val="1C191A"/>
                </a:solidFill>
                <a:latin typeface="Lato"/>
                <a:ea typeface="Lato"/>
                <a:cs typeface="Lato"/>
                <a:sym typeface="Lato"/>
              </a:rPr>
              <a:t>Une traçabilité complète de chaque usage IA déployé</a:t>
            </a:r>
          </a:p>
          <a:p>
            <a:pPr algn="l" marL="474978" indent="-237489" lvl="1">
              <a:lnSpc>
                <a:spcPts val="3079"/>
              </a:lnSpc>
              <a:buFont typeface="Arial"/>
              <a:buChar char="•"/>
            </a:pPr>
            <a:r>
              <a:rPr lang="en-US" sz="2199" spc="-43">
                <a:solidFill>
                  <a:srgbClr val="1C191A"/>
                </a:solidFill>
                <a:latin typeface="Lato"/>
                <a:ea typeface="Lato"/>
                <a:cs typeface="Lato"/>
                <a:sym typeface="Lato"/>
              </a:rPr>
              <a:t>La formation aux risques associés : hallucinations, fuites de données, biais</a:t>
            </a:r>
          </a:p>
          <a:p>
            <a:pPr algn="l">
              <a:lnSpc>
                <a:spcPts val="3079"/>
              </a:lnSpc>
            </a:pPr>
          </a:p>
          <a:p>
            <a:pPr algn="l" marL="0" indent="0" lvl="0">
              <a:lnSpc>
                <a:spcPts val="3079"/>
              </a:lnSpc>
              <a:spcBef>
                <a:spcPct val="0"/>
              </a:spcBef>
            </a:pPr>
          </a:p>
        </p:txBody>
      </p:sp>
      <p:sp>
        <p:nvSpPr>
          <p:cNvPr name="TextBox 4" id="4"/>
          <p:cNvSpPr txBox="true"/>
          <p:nvPr/>
        </p:nvSpPr>
        <p:spPr>
          <a:xfrm rot="0">
            <a:off x="10512281" y="5200650"/>
            <a:ext cx="6009407" cy="1863090"/>
          </a:xfrm>
          <a:prstGeom prst="rect">
            <a:avLst/>
          </a:prstGeom>
        </p:spPr>
        <p:txBody>
          <a:bodyPr anchor="t" rtlCol="false" tIns="0" lIns="0" bIns="0" rIns="0">
            <a:spAutoFit/>
          </a:bodyPr>
          <a:lstStyle/>
          <a:p>
            <a:pPr algn="ctr">
              <a:lnSpc>
                <a:spcPts val="3600"/>
              </a:lnSpc>
              <a:spcBef>
                <a:spcPct val="0"/>
              </a:spcBef>
            </a:pPr>
            <a:r>
              <a:rPr lang="en-US" sz="3600" i="true">
                <a:solidFill>
                  <a:srgbClr val="000000"/>
                </a:solidFill>
                <a:latin typeface="Lato Italics"/>
                <a:ea typeface="Lato Italics"/>
                <a:cs typeface="Lato Italics"/>
                <a:sym typeface="Lato Italics"/>
              </a:rPr>
              <a:t>« Nous ne déployons rien que vous ne puissiez auditer, expliquer et défendre devant votre conseil d'administration.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6F4F1"/>
        </a:solidFill>
      </p:bgPr>
    </p:bg>
    <p:spTree>
      <p:nvGrpSpPr>
        <p:cNvPr id="1" name=""/>
        <p:cNvGrpSpPr/>
        <p:nvPr/>
      </p:nvGrpSpPr>
      <p:grpSpPr>
        <a:xfrm>
          <a:off x="0" y="0"/>
          <a:ext cx="0" cy="0"/>
          <a:chOff x="0" y="0"/>
          <a:chExt cx="0" cy="0"/>
        </a:xfrm>
      </p:grpSpPr>
      <p:grpSp>
        <p:nvGrpSpPr>
          <p:cNvPr name="Group 2" id="2"/>
          <p:cNvGrpSpPr/>
          <p:nvPr/>
        </p:nvGrpSpPr>
        <p:grpSpPr>
          <a:xfrm rot="0">
            <a:off x="-381720" y="-218676"/>
            <a:ext cx="1410420" cy="10724351"/>
            <a:chOff x="0" y="0"/>
            <a:chExt cx="371469" cy="2824521"/>
          </a:xfrm>
        </p:grpSpPr>
        <p:sp>
          <p:nvSpPr>
            <p:cNvPr name="Freeform 3" id="3"/>
            <p:cNvSpPr/>
            <p:nvPr/>
          </p:nvSpPr>
          <p:spPr>
            <a:xfrm flipH="false" flipV="false" rot="0">
              <a:off x="0" y="0"/>
              <a:ext cx="371469" cy="2824520"/>
            </a:xfrm>
            <a:custGeom>
              <a:avLst/>
              <a:gdLst/>
              <a:ahLst/>
              <a:cxnLst/>
              <a:rect r="r" b="b" t="t" l="l"/>
              <a:pathLst>
                <a:path h="2824520" w="371469">
                  <a:moveTo>
                    <a:pt x="0" y="0"/>
                  </a:moveTo>
                  <a:lnTo>
                    <a:pt x="371469" y="0"/>
                  </a:lnTo>
                  <a:lnTo>
                    <a:pt x="371469" y="2824520"/>
                  </a:lnTo>
                  <a:lnTo>
                    <a:pt x="0" y="2824520"/>
                  </a:lnTo>
                  <a:close/>
                </a:path>
              </a:pathLst>
            </a:custGeom>
            <a:solidFill>
              <a:srgbClr val="7C898B"/>
            </a:solidFill>
          </p:spPr>
        </p:sp>
        <p:sp>
          <p:nvSpPr>
            <p:cNvPr name="TextBox 4" id="4"/>
            <p:cNvSpPr txBox="true"/>
            <p:nvPr/>
          </p:nvSpPr>
          <p:spPr>
            <a:xfrm>
              <a:off x="0" y="-38100"/>
              <a:ext cx="371469" cy="2862621"/>
            </a:xfrm>
            <a:prstGeom prst="rect">
              <a:avLst/>
            </a:prstGeom>
          </p:spPr>
          <p:txBody>
            <a:bodyPr anchor="ctr" rtlCol="false" tIns="50800" lIns="50800" bIns="50800" rIns="50800"/>
            <a:lstStyle/>
            <a:p>
              <a:pPr algn="ctr">
                <a:lnSpc>
                  <a:spcPts val="2799"/>
                </a:lnSpc>
              </a:pPr>
            </a:p>
          </p:txBody>
        </p:sp>
      </p:grpSp>
      <p:grpSp>
        <p:nvGrpSpPr>
          <p:cNvPr name="Group 5" id="5"/>
          <p:cNvGrpSpPr/>
          <p:nvPr/>
        </p:nvGrpSpPr>
        <p:grpSpPr>
          <a:xfrm rot="0">
            <a:off x="-229320" y="-66276"/>
            <a:ext cx="1258020" cy="1655660"/>
            <a:chOff x="0" y="0"/>
            <a:chExt cx="331330" cy="436059"/>
          </a:xfrm>
        </p:grpSpPr>
        <p:sp>
          <p:nvSpPr>
            <p:cNvPr name="Freeform 6" id="6"/>
            <p:cNvSpPr/>
            <p:nvPr/>
          </p:nvSpPr>
          <p:spPr>
            <a:xfrm flipH="false" flipV="false" rot="0">
              <a:off x="0" y="0"/>
              <a:ext cx="331330" cy="436059"/>
            </a:xfrm>
            <a:custGeom>
              <a:avLst/>
              <a:gdLst/>
              <a:ahLst/>
              <a:cxnLst/>
              <a:rect r="r" b="b" t="t" l="l"/>
              <a:pathLst>
                <a:path h="436059" w="331330">
                  <a:moveTo>
                    <a:pt x="0" y="0"/>
                  </a:moveTo>
                  <a:lnTo>
                    <a:pt x="331330" y="0"/>
                  </a:lnTo>
                  <a:lnTo>
                    <a:pt x="331330" y="436059"/>
                  </a:lnTo>
                  <a:lnTo>
                    <a:pt x="0" y="436059"/>
                  </a:lnTo>
                  <a:close/>
                </a:path>
              </a:pathLst>
            </a:custGeom>
            <a:solidFill>
              <a:srgbClr val="253439"/>
            </a:solidFill>
          </p:spPr>
        </p:sp>
        <p:sp>
          <p:nvSpPr>
            <p:cNvPr name="TextBox 7" id="7"/>
            <p:cNvSpPr txBox="true"/>
            <p:nvPr/>
          </p:nvSpPr>
          <p:spPr>
            <a:xfrm>
              <a:off x="0" y="-38100"/>
              <a:ext cx="331330" cy="474159"/>
            </a:xfrm>
            <a:prstGeom prst="rect">
              <a:avLst/>
            </a:prstGeom>
          </p:spPr>
          <p:txBody>
            <a:bodyPr anchor="ctr" rtlCol="false" tIns="50800" lIns="50800" bIns="50800" rIns="50800"/>
            <a:lstStyle/>
            <a:p>
              <a:pPr algn="ctr">
                <a:lnSpc>
                  <a:spcPts val="2799"/>
                </a:lnSpc>
              </a:pPr>
            </a:p>
          </p:txBody>
        </p:sp>
      </p:grpSp>
      <p:sp>
        <p:nvSpPr>
          <p:cNvPr name="Freeform 8" id="8"/>
          <p:cNvSpPr/>
          <p:nvPr/>
        </p:nvSpPr>
        <p:spPr>
          <a:xfrm flipH="false" flipV="false" rot="0">
            <a:off x="5497385" y="4698360"/>
            <a:ext cx="1258495" cy="1223957"/>
          </a:xfrm>
          <a:custGeom>
            <a:avLst/>
            <a:gdLst/>
            <a:ahLst/>
            <a:cxnLst/>
            <a:rect r="r" b="b" t="t" l="l"/>
            <a:pathLst>
              <a:path h="1223957" w="1258495">
                <a:moveTo>
                  <a:pt x="0" y="0"/>
                </a:moveTo>
                <a:lnTo>
                  <a:pt x="1258496" y="0"/>
                </a:lnTo>
                <a:lnTo>
                  <a:pt x="1258496" y="1223957"/>
                </a:lnTo>
                <a:lnTo>
                  <a:pt x="0" y="1223957"/>
                </a:lnTo>
                <a:lnTo>
                  <a:pt x="0" y="0"/>
                </a:lnTo>
                <a:close/>
              </a:path>
            </a:pathLst>
          </a:custGeom>
          <a:blipFill>
            <a:blip r:embed="rId2"/>
            <a:stretch>
              <a:fillRect l="0" t="0" r="0" b="0"/>
            </a:stretch>
          </a:blipFill>
        </p:spPr>
      </p:sp>
      <p:sp>
        <p:nvSpPr>
          <p:cNvPr name="Freeform 9" id="9"/>
          <p:cNvSpPr/>
          <p:nvPr/>
        </p:nvSpPr>
        <p:spPr>
          <a:xfrm flipH="false" flipV="false" rot="0">
            <a:off x="5506583" y="6393612"/>
            <a:ext cx="1249297" cy="1240169"/>
          </a:xfrm>
          <a:custGeom>
            <a:avLst/>
            <a:gdLst/>
            <a:ahLst/>
            <a:cxnLst/>
            <a:rect r="r" b="b" t="t" l="l"/>
            <a:pathLst>
              <a:path h="1240169" w="1249297">
                <a:moveTo>
                  <a:pt x="0" y="0"/>
                </a:moveTo>
                <a:lnTo>
                  <a:pt x="1249298" y="0"/>
                </a:lnTo>
                <a:lnTo>
                  <a:pt x="1249298" y="1240169"/>
                </a:lnTo>
                <a:lnTo>
                  <a:pt x="0" y="1240169"/>
                </a:lnTo>
                <a:lnTo>
                  <a:pt x="0" y="0"/>
                </a:lnTo>
                <a:close/>
              </a:path>
            </a:pathLst>
          </a:custGeom>
          <a:blipFill>
            <a:blip r:embed="rId3"/>
            <a:stretch>
              <a:fillRect l="-5724" t="0" r="-14684" b="-9025"/>
            </a:stretch>
          </a:blipFill>
        </p:spPr>
      </p:sp>
      <p:sp>
        <p:nvSpPr>
          <p:cNvPr name="Freeform 10" id="10"/>
          <p:cNvSpPr/>
          <p:nvPr/>
        </p:nvSpPr>
        <p:spPr>
          <a:xfrm flipH="false" flipV="false" rot="0">
            <a:off x="5506583" y="8100506"/>
            <a:ext cx="1249297" cy="1264400"/>
          </a:xfrm>
          <a:custGeom>
            <a:avLst/>
            <a:gdLst/>
            <a:ahLst/>
            <a:cxnLst/>
            <a:rect r="r" b="b" t="t" l="l"/>
            <a:pathLst>
              <a:path h="1264400" w="1249297">
                <a:moveTo>
                  <a:pt x="0" y="0"/>
                </a:moveTo>
                <a:lnTo>
                  <a:pt x="1249298" y="0"/>
                </a:lnTo>
                <a:lnTo>
                  <a:pt x="1249298" y="1264400"/>
                </a:lnTo>
                <a:lnTo>
                  <a:pt x="0" y="1264400"/>
                </a:lnTo>
                <a:lnTo>
                  <a:pt x="0" y="0"/>
                </a:lnTo>
                <a:close/>
              </a:path>
            </a:pathLst>
          </a:custGeom>
          <a:blipFill>
            <a:blip r:embed="rId4"/>
            <a:stretch>
              <a:fillRect l="-32791" t="-6479" r="-49313" b="-163077"/>
            </a:stretch>
          </a:blipFill>
        </p:spPr>
      </p:sp>
      <p:sp>
        <p:nvSpPr>
          <p:cNvPr name="TextBox 11" id="11"/>
          <p:cNvSpPr txBox="true"/>
          <p:nvPr/>
        </p:nvSpPr>
        <p:spPr>
          <a:xfrm rot="-5400000">
            <a:off x="-1321028" y="4719320"/>
            <a:ext cx="8229600" cy="848360"/>
          </a:xfrm>
          <a:prstGeom prst="rect">
            <a:avLst/>
          </a:prstGeom>
        </p:spPr>
        <p:txBody>
          <a:bodyPr anchor="t" rtlCol="false" tIns="0" lIns="0" bIns="0" rIns="0">
            <a:spAutoFit/>
          </a:bodyPr>
          <a:lstStyle/>
          <a:p>
            <a:pPr algn="ctr" marL="0" indent="0" lvl="0">
              <a:lnSpc>
                <a:spcPts val="6399"/>
              </a:lnSpc>
              <a:spcBef>
                <a:spcPct val="0"/>
              </a:spcBef>
            </a:pPr>
            <a:r>
              <a:rPr lang="en-US" sz="6399">
                <a:solidFill>
                  <a:srgbClr val="253439"/>
                </a:solidFill>
                <a:latin typeface="Lato"/>
                <a:ea typeface="Lato"/>
                <a:cs typeface="Lato"/>
                <a:sym typeface="Lato"/>
              </a:rPr>
              <a:t>Pourquoi nous ?</a:t>
            </a:r>
          </a:p>
        </p:txBody>
      </p:sp>
      <p:sp>
        <p:nvSpPr>
          <p:cNvPr name="TextBox 12" id="12"/>
          <p:cNvSpPr txBox="true"/>
          <p:nvPr/>
        </p:nvSpPr>
        <p:spPr>
          <a:xfrm rot="0">
            <a:off x="7112748" y="5161905"/>
            <a:ext cx="8988834" cy="630555"/>
          </a:xfrm>
          <a:prstGeom prst="rect">
            <a:avLst/>
          </a:prstGeom>
        </p:spPr>
        <p:txBody>
          <a:bodyPr anchor="t" rtlCol="false" tIns="0" lIns="0" bIns="0" rIns="0">
            <a:spAutoFit/>
          </a:bodyPr>
          <a:lstStyle/>
          <a:p>
            <a:pPr algn="just" marL="0" indent="0" lvl="0">
              <a:lnSpc>
                <a:spcPts val="2520"/>
              </a:lnSpc>
              <a:spcBef>
                <a:spcPct val="0"/>
              </a:spcBef>
            </a:pPr>
            <a:r>
              <a:rPr lang="en-US" sz="1800" spc="-36">
                <a:solidFill>
                  <a:srgbClr val="1C191A"/>
                </a:solidFill>
                <a:latin typeface="Lato"/>
                <a:ea typeface="Lato"/>
                <a:cs typeface="Lato"/>
                <a:sym typeface="Lato"/>
              </a:rPr>
              <a:t>J’écoute vos</a:t>
            </a:r>
            <a:r>
              <a:rPr lang="en-US" sz="1800" spc="-36" strike="noStrike" u="none">
                <a:solidFill>
                  <a:srgbClr val="1C191A"/>
                </a:solidFill>
                <a:latin typeface="Lato"/>
                <a:ea typeface="Lato"/>
                <a:cs typeface="Lato"/>
                <a:sym typeface="Lato"/>
              </a:rPr>
              <a:t> besoins exprimés, je comprends vos enjeux stratégiques, je déniche vos besoins cachés et les opportunités que personne n'avait formulées.</a:t>
            </a:r>
          </a:p>
        </p:txBody>
      </p:sp>
      <p:sp>
        <p:nvSpPr>
          <p:cNvPr name="TextBox 13" id="13"/>
          <p:cNvSpPr txBox="true"/>
          <p:nvPr/>
        </p:nvSpPr>
        <p:spPr>
          <a:xfrm rot="0">
            <a:off x="7112748" y="8577189"/>
            <a:ext cx="8988834" cy="630555"/>
          </a:xfrm>
          <a:prstGeom prst="rect">
            <a:avLst/>
          </a:prstGeom>
        </p:spPr>
        <p:txBody>
          <a:bodyPr anchor="t" rtlCol="false" tIns="0" lIns="0" bIns="0" rIns="0">
            <a:spAutoFit/>
          </a:bodyPr>
          <a:lstStyle/>
          <a:p>
            <a:pPr algn="just" marL="0" indent="0" lvl="0">
              <a:lnSpc>
                <a:spcPts val="2520"/>
              </a:lnSpc>
              <a:spcBef>
                <a:spcPct val="0"/>
              </a:spcBef>
            </a:pPr>
            <a:r>
              <a:rPr lang="en-US" sz="1800" spc="-36">
                <a:solidFill>
                  <a:srgbClr val="1C191A"/>
                </a:solidFill>
                <a:latin typeface="Lato"/>
                <a:ea typeface="Lato"/>
                <a:cs typeface="Lato"/>
                <a:sym typeface="Lato"/>
              </a:rPr>
              <a:t>E</a:t>
            </a:r>
            <a:r>
              <a:rPr lang="en-US" sz="1800" spc="-36" strike="noStrike" u="none">
                <a:solidFill>
                  <a:srgbClr val="1C191A"/>
                </a:solidFill>
                <a:latin typeface="Lato"/>
                <a:ea typeface="Lato"/>
                <a:cs typeface="Lato"/>
                <a:sym typeface="Lato"/>
              </a:rPr>
              <a:t>x</a:t>
            </a:r>
            <a:r>
              <a:rPr lang="en-US" sz="1800" spc="-36" strike="noStrike" u="none">
                <a:solidFill>
                  <a:srgbClr val="1C191A"/>
                </a:solidFill>
                <a:latin typeface="Lato"/>
                <a:ea typeface="Lato"/>
                <a:cs typeface="Lato"/>
                <a:sym typeface="Lato"/>
              </a:rPr>
              <a:t>p</a:t>
            </a:r>
            <a:r>
              <a:rPr lang="en-US" sz="1800" spc="-36" strike="noStrike" u="none">
                <a:solidFill>
                  <a:srgbClr val="1C191A"/>
                </a:solidFill>
                <a:latin typeface="Lato"/>
                <a:ea typeface="Lato"/>
                <a:cs typeface="Lato"/>
                <a:sym typeface="Lato"/>
              </a:rPr>
              <a:t>erte</a:t>
            </a:r>
            <a:r>
              <a:rPr lang="en-US" sz="1800" spc="-36" strike="noStrike" u="none">
                <a:solidFill>
                  <a:srgbClr val="1C191A"/>
                </a:solidFill>
                <a:latin typeface="Lato"/>
                <a:ea typeface="Lato"/>
                <a:cs typeface="Lato"/>
                <a:sym typeface="Lato"/>
              </a:rPr>
              <a:t> d</a:t>
            </a:r>
            <a:r>
              <a:rPr lang="en-US" sz="1800" spc="-36" strike="noStrike" u="none">
                <a:solidFill>
                  <a:srgbClr val="1C191A"/>
                </a:solidFill>
                <a:latin typeface="Lato"/>
                <a:ea typeface="Lato"/>
                <a:cs typeface="Lato"/>
                <a:sym typeface="Lato"/>
              </a:rPr>
              <a:t>ata c</a:t>
            </a:r>
            <a:r>
              <a:rPr lang="en-US" sz="1800" spc="-36" strike="noStrike" u="none">
                <a:solidFill>
                  <a:srgbClr val="1C191A"/>
                </a:solidFill>
                <a:latin typeface="Lato"/>
                <a:ea typeface="Lato"/>
                <a:cs typeface="Lato"/>
                <a:sym typeface="Lato"/>
              </a:rPr>
              <a:t>o</a:t>
            </a:r>
            <a:r>
              <a:rPr lang="en-US" sz="1800" spc="-36" strike="noStrike" u="none">
                <a:solidFill>
                  <a:srgbClr val="1C191A"/>
                </a:solidFill>
                <a:latin typeface="Lato"/>
                <a:ea typeface="Lato"/>
                <a:cs typeface="Lato"/>
                <a:sym typeface="Lato"/>
              </a:rPr>
              <a:t>mp</a:t>
            </a:r>
            <a:r>
              <a:rPr lang="en-US" sz="1800" spc="-36" strike="noStrike" u="none">
                <a:solidFill>
                  <a:srgbClr val="1C191A"/>
                </a:solidFill>
                <a:latin typeface="Lato"/>
                <a:ea typeface="Lato"/>
                <a:cs typeface="Lato"/>
                <a:sym typeface="Lato"/>
              </a:rPr>
              <a:t>or</a:t>
            </a:r>
            <a:r>
              <a:rPr lang="en-US" sz="1800" spc="-36" strike="noStrike" u="none">
                <a:solidFill>
                  <a:srgbClr val="1C191A"/>
                </a:solidFill>
                <a:latin typeface="Lato"/>
                <a:ea typeface="Lato"/>
                <a:cs typeface="Lato"/>
                <a:sym typeface="Lato"/>
              </a:rPr>
              <a:t>tementale, je vous aide à en faire un outil de prise de décision.</a:t>
            </a:r>
          </a:p>
          <a:p>
            <a:pPr algn="just" marL="0" indent="0" lvl="0">
              <a:lnSpc>
                <a:spcPts val="2520"/>
              </a:lnSpc>
              <a:spcBef>
                <a:spcPct val="0"/>
              </a:spcBef>
            </a:pPr>
            <a:r>
              <a:rPr lang="en-US" sz="1800" spc="-36" strike="noStrike" u="none">
                <a:solidFill>
                  <a:srgbClr val="1C191A"/>
                </a:solidFill>
                <a:latin typeface="Lato"/>
                <a:ea typeface="Lato"/>
                <a:cs typeface="Lato"/>
                <a:sym typeface="Lato"/>
              </a:rPr>
              <a:t>Je vulgarise le fonctionnement de l’IA comme personne, même pour les profils les moins tech.</a:t>
            </a:r>
          </a:p>
        </p:txBody>
      </p:sp>
      <p:sp>
        <p:nvSpPr>
          <p:cNvPr name="TextBox 14" id="14"/>
          <p:cNvSpPr txBox="true"/>
          <p:nvPr/>
        </p:nvSpPr>
        <p:spPr>
          <a:xfrm rot="0">
            <a:off x="7112748" y="6846063"/>
            <a:ext cx="8988834" cy="630555"/>
          </a:xfrm>
          <a:prstGeom prst="rect">
            <a:avLst/>
          </a:prstGeom>
        </p:spPr>
        <p:txBody>
          <a:bodyPr anchor="t" rtlCol="false" tIns="0" lIns="0" bIns="0" rIns="0">
            <a:spAutoFit/>
          </a:bodyPr>
          <a:lstStyle/>
          <a:p>
            <a:pPr algn="just" marL="0" indent="0" lvl="0">
              <a:lnSpc>
                <a:spcPts val="2520"/>
              </a:lnSpc>
              <a:spcBef>
                <a:spcPct val="0"/>
              </a:spcBef>
            </a:pPr>
            <a:r>
              <a:rPr lang="en-US" sz="1800" spc="-36">
                <a:solidFill>
                  <a:srgbClr val="1C191A"/>
                </a:solidFill>
                <a:latin typeface="Lato"/>
                <a:ea typeface="Lato"/>
                <a:cs typeface="Lato"/>
                <a:sym typeface="Lato"/>
              </a:rPr>
              <a:t>Je sais ce qu’il</a:t>
            </a:r>
            <a:r>
              <a:rPr lang="en-US" sz="1800" spc="-36" strike="noStrike" u="none">
                <a:solidFill>
                  <a:srgbClr val="1C191A"/>
                </a:solidFill>
                <a:latin typeface="Lato"/>
                <a:ea typeface="Lato"/>
                <a:cs typeface="Lato"/>
                <a:sym typeface="Lato"/>
              </a:rPr>
              <a:t> y a </a:t>
            </a:r>
            <a:r>
              <a:rPr lang="en-US" sz="1800" spc="-36" strike="noStrike" u="none">
                <a:solidFill>
                  <a:srgbClr val="1C191A"/>
                </a:solidFill>
                <a:latin typeface="Lato"/>
                <a:ea typeface="Lato"/>
                <a:cs typeface="Lato"/>
                <a:sym typeface="Lato"/>
              </a:rPr>
              <a:t>s</a:t>
            </a:r>
            <a:r>
              <a:rPr lang="en-US" sz="1800" spc="-36" strike="noStrike" u="none">
                <a:solidFill>
                  <a:srgbClr val="1C191A"/>
                </a:solidFill>
                <a:latin typeface="Lato"/>
                <a:ea typeface="Lato"/>
                <a:cs typeface="Lato"/>
                <a:sym typeface="Lato"/>
              </a:rPr>
              <a:t>o</a:t>
            </a:r>
            <a:r>
              <a:rPr lang="en-US" sz="1800" spc="-36" strike="noStrike" u="none">
                <a:solidFill>
                  <a:srgbClr val="1C191A"/>
                </a:solidFill>
                <a:latin typeface="Lato"/>
                <a:ea typeface="Lato"/>
                <a:cs typeface="Lato"/>
                <a:sym typeface="Lato"/>
              </a:rPr>
              <a:t>u</a:t>
            </a:r>
            <a:r>
              <a:rPr lang="en-US" sz="1800" spc="-36" strike="noStrike" u="none">
                <a:solidFill>
                  <a:srgbClr val="1C191A"/>
                </a:solidFill>
                <a:latin typeface="Lato"/>
                <a:ea typeface="Lato"/>
                <a:cs typeface="Lato"/>
                <a:sym typeface="Lato"/>
              </a:rPr>
              <a:t>s</a:t>
            </a:r>
            <a:r>
              <a:rPr lang="en-US" sz="1800" spc="-36" strike="noStrike" u="none">
                <a:solidFill>
                  <a:srgbClr val="1C191A"/>
                </a:solidFill>
                <a:latin typeface="Lato"/>
                <a:ea typeface="Lato"/>
                <a:cs typeface="Lato"/>
                <a:sym typeface="Lato"/>
              </a:rPr>
              <a:t> l</a:t>
            </a:r>
            <a:r>
              <a:rPr lang="en-US" sz="1800" spc="-36" strike="noStrike" u="none">
                <a:solidFill>
                  <a:srgbClr val="1C191A"/>
                </a:solidFill>
                <a:latin typeface="Lato"/>
                <a:ea typeface="Lato"/>
                <a:cs typeface="Lato"/>
                <a:sym typeface="Lato"/>
              </a:rPr>
              <a:t>e</a:t>
            </a:r>
            <a:r>
              <a:rPr lang="en-US" sz="1800" spc="-36" strike="noStrike" u="none">
                <a:solidFill>
                  <a:srgbClr val="1C191A"/>
                </a:solidFill>
                <a:latin typeface="Lato"/>
                <a:ea typeface="Lato"/>
                <a:cs typeface="Lato"/>
                <a:sym typeface="Lato"/>
              </a:rPr>
              <a:t> </a:t>
            </a:r>
            <a:r>
              <a:rPr lang="en-US" sz="1800" spc="-36" strike="noStrike" u="none">
                <a:solidFill>
                  <a:srgbClr val="1C191A"/>
                </a:solidFill>
                <a:latin typeface="Lato"/>
                <a:ea typeface="Lato"/>
                <a:cs typeface="Lato"/>
                <a:sym typeface="Lato"/>
              </a:rPr>
              <a:t>capo</a:t>
            </a:r>
            <a:r>
              <a:rPr lang="en-US" sz="1800" spc="-36" strike="noStrike" u="none">
                <a:solidFill>
                  <a:srgbClr val="1C191A"/>
                </a:solidFill>
                <a:latin typeface="Lato"/>
                <a:ea typeface="Lato"/>
                <a:cs typeface="Lato"/>
                <a:sym typeface="Lato"/>
              </a:rPr>
              <a:t>t </a:t>
            </a:r>
            <a:r>
              <a:rPr lang="en-US" sz="1800" spc="-36" strike="noStrike" u="none">
                <a:solidFill>
                  <a:srgbClr val="1C191A"/>
                </a:solidFill>
                <a:latin typeface="Lato"/>
                <a:ea typeface="Lato"/>
                <a:cs typeface="Lato"/>
                <a:sym typeface="Lato"/>
              </a:rPr>
              <a:t>d</a:t>
            </a:r>
            <a:r>
              <a:rPr lang="en-US" sz="1800" spc="-36" strike="noStrike" u="none">
                <a:solidFill>
                  <a:srgbClr val="1C191A"/>
                </a:solidFill>
                <a:latin typeface="Lato"/>
                <a:ea typeface="Lato"/>
                <a:cs typeface="Lato"/>
                <a:sym typeface="Lato"/>
              </a:rPr>
              <a:t>e</a:t>
            </a:r>
            <a:r>
              <a:rPr lang="en-US" sz="1800" spc="-36" strike="noStrike" u="none">
                <a:solidFill>
                  <a:srgbClr val="1C191A"/>
                </a:solidFill>
                <a:latin typeface="Lato"/>
                <a:ea typeface="Lato"/>
                <a:cs typeface="Lato"/>
                <a:sym typeface="Lato"/>
              </a:rPr>
              <a:t>s</a:t>
            </a:r>
            <a:r>
              <a:rPr lang="en-US" sz="1800" spc="-36" strike="noStrike" u="none">
                <a:solidFill>
                  <a:srgbClr val="1C191A"/>
                </a:solidFill>
                <a:latin typeface="Lato"/>
                <a:ea typeface="Lato"/>
                <a:cs typeface="Lato"/>
                <a:sym typeface="Lato"/>
              </a:rPr>
              <a:t> </a:t>
            </a:r>
            <a:r>
              <a:rPr lang="en-US" sz="1800" spc="-36" strike="noStrike" u="none">
                <a:solidFill>
                  <a:srgbClr val="1C191A"/>
                </a:solidFill>
                <a:latin typeface="Lato"/>
                <a:ea typeface="Lato"/>
                <a:cs typeface="Lato"/>
                <a:sym typeface="Lato"/>
              </a:rPr>
              <a:t>LLM</a:t>
            </a:r>
            <a:r>
              <a:rPr lang="en-US" sz="1800" spc="-36" strike="noStrike" u="none">
                <a:solidFill>
                  <a:srgbClr val="1C191A"/>
                </a:solidFill>
                <a:latin typeface="Lato"/>
                <a:ea typeface="Lato"/>
                <a:cs typeface="Lato"/>
                <a:sym typeface="Lato"/>
              </a:rPr>
              <a:t>s</a:t>
            </a:r>
            <a:r>
              <a:rPr lang="en-US" sz="1800" spc="-36" strike="noStrike" u="none">
                <a:solidFill>
                  <a:srgbClr val="1C191A"/>
                </a:solidFill>
                <a:latin typeface="Lato"/>
                <a:ea typeface="Lato"/>
                <a:cs typeface="Lato"/>
                <a:sym typeface="Lato"/>
              </a:rPr>
              <a:t>. Ar</a:t>
            </a:r>
            <a:r>
              <a:rPr lang="en-US" sz="1800" spc="-36" strike="noStrike" u="none">
                <a:solidFill>
                  <a:srgbClr val="1C191A"/>
                </a:solidFill>
                <a:latin typeface="Lato"/>
                <a:ea typeface="Lato"/>
                <a:cs typeface="Lato"/>
                <a:sym typeface="Lato"/>
              </a:rPr>
              <a:t>c</a:t>
            </a:r>
            <a:r>
              <a:rPr lang="en-US" sz="1800" spc="-36" strike="noStrike" u="none">
                <a:solidFill>
                  <a:srgbClr val="1C191A"/>
                </a:solidFill>
                <a:latin typeface="Lato"/>
                <a:ea typeface="Lato"/>
                <a:cs typeface="Lato"/>
                <a:sym typeface="Lato"/>
              </a:rPr>
              <a:t>hi</a:t>
            </a:r>
            <a:r>
              <a:rPr lang="en-US" sz="1800" spc="-36" strike="noStrike" u="none">
                <a:solidFill>
                  <a:srgbClr val="1C191A"/>
                </a:solidFill>
                <a:latin typeface="Lato"/>
                <a:ea typeface="Lato"/>
                <a:cs typeface="Lato"/>
                <a:sym typeface="Lato"/>
              </a:rPr>
              <a:t>te</a:t>
            </a:r>
            <a:r>
              <a:rPr lang="en-US" sz="1800" spc="-36" strike="noStrike" u="none">
                <a:solidFill>
                  <a:srgbClr val="1C191A"/>
                </a:solidFill>
                <a:latin typeface="Lato"/>
                <a:ea typeface="Lato"/>
                <a:cs typeface="Lato"/>
                <a:sym typeface="Lato"/>
              </a:rPr>
              <a:t>c</a:t>
            </a:r>
            <a:r>
              <a:rPr lang="en-US" sz="1800" spc="-36" strike="noStrike" u="none">
                <a:solidFill>
                  <a:srgbClr val="1C191A"/>
                </a:solidFill>
                <a:latin typeface="Lato"/>
                <a:ea typeface="Lato"/>
                <a:cs typeface="Lato"/>
                <a:sym typeface="Lato"/>
              </a:rPr>
              <a:t>tur</a:t>
            </a:r>
            <a:r>
              <a:rPr lang="en-US" sz="1800" spc="-36" strike="noStrike" u="none">
                <a:solidFill>
                  <a:srgbClr val="1C191A"/>
                </a:solidFill>
                <a:latin typeface="Lato"/>
                <a:ea typeface="Lato"/>
                <a:cs typeface="Lato"/>
                <a:sym typeface="Lato"/>
              </a:rPr>
              <a:t>es</a:t>
            </a:r>
            <a:r>
              <a:rPr lang="en-US" sz="1800" spc="-36" strike="noStrike" u="none">
                <a:solidFill>
                  <a:srgbClr val="1C191A"/>
                </a:solidFill>
                <a:latin typeface="Lato"/>
                <a:ea typeface="Lato"/>
                <a:cs typeface="Lato"/>
                <a:sym typeface="Lato"/>
              </a:rPr>
              <a:t> agentiqu</a:t>
            </a:r>
            <a:r>
              <a:rPr lang="en-US" sz="1800" spc="-36" strike="noStrike" u="none">
                <a:solidFill>
                  <a:srgbClr val="1C191A"/>
                </a:solidFill>
                <a:latin typeface="Lato"/>
                <a:ea typeface="Lato"/>
                <a:cs typeface="Lato"/>
                <a:sym typeface="Lato"/>
              </a:rPr>
              <a:t>es</a:t>
            </a:r>
            <a:r>
              <a:rPr lang="en-US" sz="1800" spc="-36" strike="noStrike" u="none">
                <a:solidFill>
                  <a:srgbClr val="1C191A"/>
                </a:solidFill>
                <a:latin typeface="Lato"/>
                <a:ea typeface="Lato"/>
                <a:cs typeface="Lato"/>
                <a:sym typeface="Lato"/>
              </a:rPr>
              <a:t>, d</a:t>
            </a:r>
            <a:r>
              <a:rPr lang="en-US" sz="1800" spc="-36" strike="noStrike" u="none">
                <a:solidFill>
                  <a:srgbClr val="1C191A"/>
                </a:solidFill>
                <a:latin typeface="Lato"/>
                <a:ea typeface="Lato"/>
                <a:cs typeface="Lato"/>
                <a:sym typeface="Lato"/>
              </a:rPr>
              <a:t>épl</a:t>
            </a:r>
            <a:r>
              <a:rPr lang="en-US" sz="1800" spc="-36" strike="noStrike" u="none">
                <a:solidFill>
                  <a:srgbClr val="1C191A"/>
                </a:solidFill>
                <a:latin typeface="Lato"/>
                <a:ea typeface="Lato"/>
                <a:cs typeface="Lato"/>
                <a:sym typeface="Lato"/>
              </a:rPr>
              <a:t>oi</a:t>
            </a:r>
            <a:r>
              <a:rPr lang="en-US" sz="1800" spc="-36" strike="noStrike" u="none">
                <a:solidFill>
                  <a:srgbClr val="1C191A"/>
                </a:solidFill>
                <a:latin typeface="Lato"/>
                <a:ea typeface="Lato"/>
                <a:cs typeface="Lato"/>
                <a:sym typeface="Lato"/>
              </a:rPr>
              <a:t>eme</a:t>
            </a:r>
            <a:r>
              <a:rPr lang="en-US" sz="1800" spc="-36" strike="noStrike" u="none">
                <a:solidFill>
                  <a:srgbClr val="1C191A"/>
                </a:solidFill>
                <a:latin typeface="Lato"/>
                <a:ea typeface="Lato"/>
                <a:cs typeface="Lato"/>
                <a:sym typeface="Lato"/>
              </a:rPr>
              <a:t>n</a:t>
            </a:r>
            <a:r>
              <a:rPr lang="en-US" sz="1800" spc="-36" strike="noStrike" u="none">
                <a:solidFill>
                  <a:srgbClr val="1C191A"/>
                </a:solidFill>
                <a:latin typeface="Lato"/>
                <a:ea typeface="Lato"/>
                <a:cs typeface="Lato"/>
                <a:sym typeface="Lato"/>
              </a:rPr>
              <a:t>t</a:t>
            </a:r>
            <a:r>
              <a:rPr lang="en-US" sz="1800" spc="-36" strike="noStrike" u="none">
                <a:solidFill>
                  <a:srgbClr val="1C191A"/>
                </a:solidFill>
                <a:latin typeface="Lato"/>
                <a:ea typeface="Lato"/>
                <a:cs typeface="Lato"/>
                <a:sym typeface="Lato"/>
              </a:rPr>
              <a:t> </a:t>
            </a:r>
            <a:r>
              <a:rPr lang="en-US" sz="1800" spc="-36" strike="noStrike" u="none">
                <a:solidFill>
                  <a:srgbClr val="1C191A"/>
                </a:solidFill>
                <a:latin typeface="Lato"/>
                <a:ea typeface="Lato"/>
                <a:cs typeface="Lato"/>
                <a:sym typeface="Lato"/>
              </a:rPr>
              <a:t>sé</a:t>
            </a:r>
            <a:r>
              <a:rPr lang="en-US" sz="1800" spc="-36" strike="noStrike" u="none">
                <a:solidFill>
                  <a:srgbClr val="1C191A"/>
                </a:solidFill>
                <a:latin typeface="Lato"/>
                <a:ea typeface="Lato"/>
                <a:cs typeface="Lato"/>
                <a:sym typeface="Lato"/>
              </a:rPr>
              <a:t>cur</a:t>
            </a:r>
            <a:r>
              <a:rPr lang="en-US" sz="1800" spc="-36" strike="noStrike" u="none">
                <a:solidFill>
                  <a:srgbClr val="1C191A"/>
                </a:solidFill>
                <a:latin typeface="Lato"/>
                <a:ea typeface="Lato"/>
                <a:cs typeface="Lato"/>
                <a:sym typeface="Lato"/>
              </a:rPr>
              <a:t>i</a:t>
            </a:r>
            <a:r>
              <a:rPr lang="en-US" sz="1800" spc="-36" strike="noStrike" u="none">
                <a:solidFill>
                  <a:srgbClr val="1C191A"/>
                </a:solidFill>
                <a:latin typeface="Lato"/>
                <a:ea typeface="Lato"/>
                <a:cs typeface="Lato"/>
                <a:sym typeface="Lato"/>
              </a:rPr>
              <a:t>s</a:t>
            </a:r>
            <a:r>
              <a:rPr lang="en-US" sz="1800" spc="-36" strike="noStrike" u="none">
                <a:solidFill>
                  <a:srgbClr val="1C191A"/>
                </a:solidFill>
                <a:latin typeface="Lato"/>
                <a:ea typeface="Lato"/>
                <a:cs typeface="Lato"/>
                <a:sym typeface="Lato"/>
              </a:rPr>
              <a:t>é,</a:t>
            </a:r>
            <a:r>
              <a:rPr lang="en-US" sz="1800" spc="-36" strike="noStrike" u="none">
                <a:solidFill>
                  <a:srgbClr val="1C191A"/>
                </a:solidFill>
                <a:latin typeface="Lato"/>
                <a:ea typeface="Lato"/>
                <a:cs typeface="Lato"/>
                <a:sym typeface="Lato"/>
              </a:rPr>
              <a:t> </a:t>
            </a:r>
            <a:r>
              <a:rPr lang="en-US" sz="1800" spc="-36" strike="noStrike" u="none">
                <a:solidFill>
                  <a:srgbClr val="1C191A"/>
                </a:solidFill>
                <a:latin typeface="Lato"/>
                <a:ea typeface="Lato"/>
                <a:cs typeface="Lato"/>
                <a:sym typeface="Lato"/>
              </a:rPr>
              <a:t>intégrati</a:t>
            </a:r>
            <a:r>
              <a:rPr lang="en-US" sz="1800" spc="-36" strike="noStrike" u="none">
                <a:solidFill>
                  <a:srgbClr val="1C191A"/>
                </a:solidFill>
                <a:latin typeface="Lato"/>
                <a:ea typeface="Lato"/>
                <a:cs typeface="Lato"/>
                <a:sym typeface="Lato"/>
              </a:rPr>
              <a:t>o</a:t>
            </a:r>
            <a:r>
              <a:rPr lang="en-US" sz="1800" spc="-36" strike="noStrike" u="none">
                <a:solidFill>
                  <a:srgbClr val="1C191A"/>
                </a:solidFill>
                <a:latin typeface="Lato"/>
                <a:ea typeface="Lato"/>
                <a:cs typeface="Lato"/>
                <a:sym typeface="Lato"/>
              </a:rPr>
              <a:t>n à v</a:t>
            </a:r>
            <a:r>
              <a:rPr lang="en-US" sz="1800" spc="-36" strike="noStrike" u="none">
                <a:solidFill>
                  <a:srgbClr val="1C191A"/>
                </a:solidFill>
                <a:latin typeface="Lato"/>
                <a:ea typeface="Lato"/>
                <a:cs typeface="Lato"/>
                <a:sym typeface="Lato"/>
              </a:rPr>
              <a:t>o</a:t>
            </a:r>
            <a:r>
              <a:rPr lang="en-US" sz="1800" spc="-36" strike="noStrike" u="none">
                <a:solidFill>
                  <a:srgbClr val="1C191A"/>
                </a:solidFill>
                <a:latin typeface="Lato"/>
                <a:ea typeface="Lato"/>
                <a:cs typeface="Lato"/>
                <a:sym typeface="Lato"/>
              </a:rPr>
              <a:t>s sys</a:t>
            </a:r>
            <a:r>
              <a:rPr lang="en-US" sz="1800" spc="-36" strike="noStrike" u="none">
                <a:solidFill>
                  <a:srgbClr val="1C191A"/>
                </a:solidFill>
                <a:latin typeface="Lato"/>
                <a:ea typeface="Lato"/>
                <a:cs typeface="Lato"/>
                <a:sym typeface="Lato"/>
              </a:rPr>
              <a:t>t</a:t>
            </a:r>
            <a:r>
              <a:rPr lang="en-US" sz="1800" spc="-36" strike="noStrike" u="none">
                <a:solidFill>
                  <a:srgbClr val="1C191A"/>
                </a:solidFill>
                <a:latin typeface="Lato"/>
                <a:ea typeface="Lato"/>
                <a:cs typeface="Lato"/>
                <a:sym typeface="Lato"/>
              </a:rPr>
              <a:t>ème</a:t>
            </a:r>
            <a:r>
              <a:rPr lang="en-US" sz="1800" spc="-36" strike="noStrike" u="none">
                <a:solidFill>
                  <a:srgbClr val="1C191A"/>
                </a:solidFill>
                <a:latin typeface="Lato"/>
                <a:ea typeface="Lato"/>
                <a:cs typeface="Lato"/>
                <a:sym typeface="Lato"/>
              </a:rPr>
              <a:t>s, je construis aussi les outils sur-mesure dont vous avez besoin.</a:t>
            </a:r>
          </a:p>
        </p:txBody>
      </p:sp>
      <p:sp>
        <p:nvSpPr>
          <p:cNvPr name="TextBox 15" id="15"/>
          <p:cNvSpPr txBox="true"/>
          <p:nvPr/>
        </p:nvSpPr>
        <p:spPr>
          <a:xfrm rot="0">
            <a:off x="7112748" y="4780593"/>
            <a:ext cx="8603069" cy="316230"/>
          </a:xfrm>
          <a:prstGeom prst="rect">
            <a:avLst/>
          </a:prstGeom>
        </p:spPr>
        <p:txBody>
          <a:bodyPr anchor="t" rtlCol="false" tIns="0" lIns="0" bIns="0" rIns="0">
            <a:spAutoFit/>
          </a:bodyPr>
          <a:lstStyle/>
          <a:p>
            <a:pPr algn="just" marL="0" indent="0" lvl="0">
              <a:lnSpc>
                <a:spcPts val="2520"/>
              </a:lnSpc>
              <a:spcBef>
                <a:spcPct val="0"/>
              </a:spcBef>
            </a:pPr>
            <a:r>
              <a:rPr lang="en-US" b="true" sz="1800" spc="-36">
                <a:solidFill>
                  <a:srgbClr val="1C191A"/>
                </a:solidFill>
                <a:latin typeface="Lato Bold"/>
                <a:ea typeface="Lato Bold"/>
                <a:cs typeface="Lato Bold"/>
                <a:sym typeface="Lato Bold"/>
              </a:rPr>
              <a:t>CEDRIC - L’auditeur</a:t>
            </a:r>
          </a:p>
        </p:txBody>
      </p:sp>
      <p:sp>
        <p:nvSpPr>
          <p:cNvPr name="TextBox 16" id="16"/>
          <p:cNvSpPr txBox="true"/>
          <p:nvPr/>
        </p:nvSpPr>
        <p:spPr>
          <a:xfrm rot="0">
            <a:off x="7112748" y="6503150"/>
            <a:ext cx="8603069" cy="316230"/>
          </a:xfrm>
          <a:prstGeom prst="rect">
            <a:avLst/>
          </a:prstGeom>
        </p:spPr>
        <p:txBody>
          <a:bodyPr anchor="t" rtlCol="false" tIns="0" lIns="0" bIns="0" rIns="0">
            <a:spAutoFit/>
          </a:bodyPr>
          <a:lstStyle/>
          <a:p>
            <a:pPr algn="just" marL="0" indent="0" lvl="0">
              <a:lnSpc>
                <a:spcPts val="2520"/>
              </a:lnSpc>
              <a:spcBef>
                <a:spcPct val="0"/>
              </a:spcBef>
            </a:pPr>
            <a:r>
              <a:rPr lang="en-US" b="true" sz="1800" spc="-36">
                <a:solidFill>
                  <a:srgbClr val="1C191A"/>
                </a:solidFill>
                <a:latin typeface="Lato Bold"/>
                <a:ea typeface="Lato Bold"/>
                <a:cs typeface="Lato Bold"/>
                <a:sym typeface="Lato Bold"/>
              </a:rPr>
              <a:t>DAVID - L’ingénieur IA</a:t>
            </a:r>
          </a:p>
        </p:txBody>
      </p:sp>
      <p:sp>
        <p:nvSpPr>
          <p:cNvPr name="TextBox 17" id="17"/>
          <p:cNvSpPr txBox="true"/>
          <p:nvPr/>
        </p:nvSpPr>
        <p:spPr>
          <a:xfrm rot="0">
            <a:off x="7112748" y="8210043"/>
            <a:ext cx="8603069" cy="316230"/>
          </a:xfrm>
          <a:prstGeom prst="rect">
            <a:avLst/>
          </a:prstGeom>
        </p:spPr>
        <p:txBody>
          <a:bodyPr anchor="t" rtlCol="false" tIns="0" lIns="0" bIns="0" rIns="0">
            <a:spAutoFit/>
          </a:bodyPr>
          <a:lstStyle/>
          <a:p>
            <a:pPr algn="just" marL="0" indent="0" lvl="0">
              <a:lnSpc>
                <a:spcPts val="2520"/>
              </a:lnSpc>
              <a:spcBef>
                <a:spcPct val="0"/>
              </a:spcBef>
            </a:pPr>
            <a:r>
              <a:rPr lang="en-US" b="true" sz="1800" spc="-36">
                <a:solidFill>
                  <a:srgbClr val="1C191A"/>
                </a:solidFill>
                <a:latin typeface="Lato Bold"/>
                <a:ea typeface="Lato Bold"/>
                <a:cs typeface="Lato Bold"/>
                <a:sym typeface="Lato Bold"/>
              </a:rPr>
              <a:t>MANON - La traductrice digitale </a:t>
            </a:r>
          </a:p>
        </p:txBody>
      </p:sp>
      <p:sp>
        <p:nvSpPr>
          <p:cNvPr name="TextBox 18" id="18"/>
          <p:cNvSpPr txBox="true"/>
          <p:nvPr/>
        </p:nvSpPr>
        <p:spPr>
          <a:xfrm rot="0">
            <a:off x="4130074" y="1037005"/>
            <a:ext cx="2754945" cy="695790"/>
          </a:xfrm>
          <a:prstGeom prst="rect">
            <a:avLst/>
          </a:prstGeom>
        </p:spPr>
        <p:txBody>
          <a:bodyPr anchor="t" rtlCol="false" tIns="0" lIns="0" bIns="0" rIns="0">
            <a:spAutoFit/>
          </a:bodyPr>
          <a:lstStyle/>
          <a:p>
            <a:pPr algn="ctr">
              <a:lnSpc>
                <a:spcPts val="5023"/>
              </a:lnSpc>
            </a:pPr>
            <a:r>
              <a:rPr lang="en-US" b="true" sz="4566" spc="-136">
                <a:solidFill>
                  <a:srgbClr val="253439"/>
                </a:solidFill>
                <a:latin typeface="Poppins Semi-Bold"/>
                <a:ea typeface="Poppins Semi-Bold"/>
                <a:cs typeface="Poppins Semi-Bold"/>
                <a:sym typeface="Poppins Semi-Bold"/>
              </a:rPr>
              <a:t>+100</a:t>
            </a:r>
          </a:p>
        </p:txBody>
      </p:sp>
      <p:sp>
        <p:nvSpPr>
          <p:cNvPr name="TextBox 19" id="19"/>
          <p:cNvSpPr txBox="true"/>
          <p:nvPr/>
        </p:nvSpPr>
        <p:spPr>
          <a:xfrm rot="0">
            <a:off x="4139408" y="1685170"/>
            <a:ext cx="2754945" cy="603081"/>
          </a:xfrm>
          <a:prstGeom prst="rect">
            <a:avLst/>
          </a:prstGeom>
        </p:spPr>
        <p:txBody>
          <a:bodyPr anchor="t" rtlCol="false" tIns="0" lIns="0" bIns="0" rIns="0">
            <a:spAutoFit/>
          </a:bodyPr>
          <a:lstStyle/>
          <a:p>
            <a:pPr algn="ctr">
              <a:lnSpc>
                <a:spcPts val="2415"/>
              </a:lnSpc>
            </a:pPr>
            <a:r>
              <a:rPr lang="en-US" sz="1725">
                <a:solidFill>
                  <a:srgbClr val="363636"/>
                </a:solidFill>
                <a:latin typeface="Poppins"/>
                <a:ea typeface="Poppins"/>
                <a:cs typeface="Poppins"/>
                <a:sym typeface="Poppins"/>
              </a:rPr>
              <a:t>structures accompagnées</a:t>
            </a:r>
          </a:p>
        </p:txBody>
      </p:sp>
      <p:sp>
        <p:nvSpPr>
          <p:cNvPr name="TextBox 20" id="20"/>
          <p:cNvSpPr txBox="true"/>
          <p:nvPr/>
        </p:nvSpPr>
        <p:spPr>
          <a:xfrm rot="0">
            <a:off x="7235761" y="1037005"/>
            <a:ext cx="2754945" cy="695790"/>
          </a:xfrm>
          <a:prstGeom prst="rect">
            <a:avLst/>
          </a:prstGeom>
        </p:spPr>
        <p:txBody>
          <a:bodyPr anchor="t" rtlCol="false" tIns="0" lIns="0" bIns="0" rIns="0">
            <a:spAutoFit/>
          </a:bodyPr>
          <a:lstStyle/>
          <a:p>
            <a:pPr algn="ctr">
              <a:lnSpc>
                <a:spcPts val="5023"/>
              </a:lnSpc>
            </a:pPr>
            <a:r>
              <a:rPr lang="en-US" b="true" sz="4566" spc="-136">
                <a:solidFill>
                  <a:srgbClr val="253439"/>
                </a:solidFill>
                <a:latin typeface="Poppins Semi-Bold"/>
                <a:ea typeface="Poppins Semi-Bold"/>
                <a:cs typeface="Poppins Semi-Bold"/>
                <a:sym typeface="Poppins Semi-Bold"/>
              </a:rPr>
              <a:t>95%</a:t>
            </a:r>
          </a:p>
        </p:txBody>
      </p:sp>
      <p:sp>
        <p:nvSpPr>
          <p:cNvPr name="TextBox 21" id="21"/>
          <p:cNvSpPr txBox="true"/>
          <p:nvPr/>
        </p:nvSpPr>
        <p:spPr>
          <a:xfrm rot="0">
            <a:off x="7245095" y="1685170"/>
            <a:ext cx="2754945" cy="603081"/>
          </a:xfrm>
          <a:prstGeom prst="rect">
            <a:avLst/>
          </a:prstGeom>
        </p:spPr>
        <p:txBody>
          <a:bodyPr anchor="t" rtlCol="false" tIns="0" lIns="0" bIns="0" rIns="0">
            <a:spAutoFit/>
          </a:bodyPr>
          <a:lstStyle/>
          <a:p>
            <a:pPr algn="ctr">
              <a:lnSpc>
                <a:spcPts val="2415"/>
              </a:lnSpc>
            </a:pPr>
            <a:r>
              <a:rPr lang="en-US" sz="1725">
                <a:solidFill>
                  <a:srgbClr val="363636"/>
                </a:solidFill>
                <a:latin typeface="Poppins"/>
                <a:ea typeface="Poppins"/>
                <a:cs typeface="Poppins"/>
                <a:sym typeface="Poppins"/>
              </a:rPr>
              <a:t>taux d’adoption de l’IA chez nos clients</a:t>
            </a:r>
          </a:p>
        </p:txBody>
      </p:sp>
      <p:sp>
        <p:nvSpPr>
          <p:cNvPr name="TextBox 22" id="22"/>
          <p:cNvSpPr txBox="true"/>
          <p:nvPr/>
        </p:nvSpPr>
        <p:spPr>
          <a:xfrm rot="0">
            <a:off x="14094562" y="1081501"/>
            <a:ext cx="1900208" cy="801558"/>
          </a:xfrm>
          <a:prstGeom prst="rect">
            <a:avLst/>
          </a:prstGeom>
        </p:spPr>
        <p:txBody>
          <a:bodyPr anchor="t" rtlCol="false" tIns="0" lIns="0" bIns="0" rIns="0">
            <a:spAutoFit/>
          </a:bodyPr>
          <a:lstStyle/>
          <a:p>
            <a:pPr algn="ctr">
              <a:lnSpc>
                <a:spcPts val="3062"/>
              </a:lnSpc>
            </a:pPr>
            <a:r>
              <a:rPr lang="en-US" b="true" sz="2784" spc="-83">
                <a:solidFill>
                  <a:srgbClr val="253439"/>
                </a:solidFill>
                <a:latin typeface="Poppins Semi-Bold"/>
                <a:ea typeface="Poppins Semi-Bold"/>
                <a:cs typeface="Poppins Semi-Bold"/>
                <a:sym typeface="Poppins Semi-Bold"/>
              </a:rPr>
              <a:t>Anthropic Academy</a:t>
            </a:r>
          </a:p>
        </p:txBody>
      </p:sp>
      <p:sp>
        <p:nvSpPr>
          <p:cNvPr name="TextBox 23" id="23"/>
          <p:cNvSpPr txBox="true"/>
          <p:nvPr/>
        </p:nvSpPr>
        <p:spPr>
          <a:xfrm rot="0">
            <a:off x="13687246" y="2004661"/>
            <a:ext cx="2714841" cy="309245"/>
          </a:xfrm>
          <a:prstGeom prst="rect">
            <a:avLst/>
          </a:prstGeom>
        </p:spPr>
        <p:txBody>
          <a:bodyPr anchor="t" rtlCol="false" tIns="0" lIns="0" bIns="0" rIns="0">
            <a:spAutoFit/>
          </a:bodyPr>
          <a:lstStyle/>
          <a:p>
            <a:pPr algn="ctr">
              <a:lnSpc>
                <a:spcPts val="2380"/>
              </a:lnSpc>
            </a:pPr>
            <a:r>
              <a:rPr lang="en-US" sz="1700">
                <a:solidFill>
                  <a:srgbClr val="363636"/>
                </a:solidFill>
                <a:latin typeface="Poppins"/>
                <a:ea typeface="Poppins"/>
                <a:cs typeface="Poppins"/>
                <a:sym typeface="Poppins"/>
              </a:rPr>
              <a:t>certifiés</a:t>
            </a:r>
          </a:p>
        </p:txBody>
      </p:sp>
      <p:sp>
        <p:nvSpPr>
          <p:cNvPr name="TextBox 24" id="24"/>
          <p:cNvSpPr txBox="true"/>
          <p:nvPr/>
        </p:nvSpPr>
        <p:spPr>
          <a:xfrm rot="0">
            <a:off x="10622500" y="1037005"/>
            <a:ext cx="2754945" cy="695790"/>
          </a:xfrm>
          <a:prstGeom prst="rect">
            <a:avLst/>
          </a:prstGeom>
        </p:spPr>
        <p:txBody>
          <a:bodyPr anchor="t" rtlCol="false" tIns="0" lIns="0" bIns="0" rIns="0">
            <a:spAutoFit/>
          </a:bodyPr>
          <a:lstStyle/>
          <a:p>
            <a:pPr algn="ctr">
              <a:lnSpc>
                <a:spcPts val="5023"/>
              </a:lnSpc>
            </a:pPr>
            <a:r>
              <a:rPr lang="en-US" b="true" sz="4566" spc="-136">
                <a:solidFill>
                  <a:srgbClr val="253439"/>
                </a:solidFill>
                <a:latin typeface="Poppins Semi-Bold"/>
                <a:ea typeface="Poppins Semi-Bold"/>
                <a:cs typeface="Poppins Semi-Bold"/>
                <a:sym typeface="Poppins Semi-Bold"/>
              </a:rPr>
              <a:t>64%</a:t>
            </a:r>
          </a:p>
        </p:txBody>
      </p:sp>
      <p:sp>
        <p:nvSpPr>
          <p:cNvPr name="TextBox 25" id="25"/>
          <p:cNvSpPr txBox="true"/>
          <p:nvPr/>
        </p:nvSpPr>
        <p:spPr>
          <a:xfrm rot="0">
            <a:off x="10622500" y="1696153"/>
            <a:ext cx="2457218" cy="603081"/>
          </a:xfrm>
          <a:prstGeom prst="rect">
            <a:avLst/>
          </a:prstGeom>
        </p:spPr>
        <p:txBody>
          <a:bodyPr anchor="t" rtlCol="false" tIns="0" lIns="0" bIns="0" rIns="0">
            <a:spAutoFit/>
          </a:bodyPr>
          <a:lstStyle/>
          <a:p>
            <a:pPr algn="ctr">
              <a:lnSpc>
                <a:spcPts val="2415"/>
              </a:lnSpc>
            </a:pPr>
            <a:r>
              <a:rPr lang="en-US" sz="1725">
                <a:solidFill>
                  <a:srgbClr val="363636"/>
                </a:solidFill>
                <a:latin typeface="Poppins"/>
                <a:ea typeface="Poppins"/>
                <a:cs typeface="Poppins"/>
                <a:sym typeface="Poppins"/>
              </a:rPr>
              <a:t>de gain de productivité moyen</a:t>
            </a:r>
          </a:p>
        </p:txBody>
      </p:sp>
      <p:sp>
        <p:nvSpPr>
          <p:cNvPr name="TextBox 26" id="26"/>
          <p:cNvSpPr txBox="true"/>
          <p:nvPr/>
        </p:nvSpPr>
        <p:spPr>
          <a:xfrm rot="0">
            <a:off x="4657257" y="2783082"/>
            <a:ext cx="11621171" cy="1267578"/>
          </a:xfrm>
          <a:prstGeom prst="rect">
            <a:avLst/>
          </a:prstGeom>
        </p:spPr>
        <p:txBody>
          <a:bodyPr anchor="t" rtlCol="false" tIns="0" lIns="0" bIns="0" rIns="0">
            <a:spAutoFit/>
          </a:bodyPr>
          <a:lstStyle/>
          <a:p>
            <a:pPr algn="just">
              <a:lnSpc>
                <a:spcPts val="2557"/>
              </a:lnSpc>
            </a:pPr>
            <a:r>
              <a:rPr lang="en-US" sz="1826" spc="-36">
                <a:solidFill>
                  <a:srgbClr val="1C191A"/>
                </a:solidFill>
                <a:latin typeface="Lato"/>
                <a:ea typeface="Lato"/>
                <a:cs typeface="Lato"/>
                <a:sym typeface="Lato"/>
              </a:rPr>
              <a:t>Face aux organismes de formation qui proposent des solutions standards, nos trois profils complémentaires nous permettent de vous proposer du sur-mesure via une analyse 360°. </a:t>
            </a:r>
          </a:p>
          <a:p>
            <a:pPr algn="just" marL="0" indent="0" lvl="0">
              <a:lnSpc>
                <a:spcPts val="2557"/>
              </a:lnSpc>
              <a:spcBef>
                <a:spcPct val="0"/>
              </a:spcBef>
            </a:pPr>
            <a:r>
              <a:rPr lang="en-US" sz="1826" spc="-36">
                <a:solidFill>
                  <a:srgbClr val="1C191A"/>
                </a:solidFill>
                <a:latin typeface="Lato"/>
                <a:ea typeface="Lato"/>
                <a:cs typeface="Lato"/>
                <a:sym typeface="Lato"/>
              </a:rPr>
              <a:t>Avec nous, toutes vos équipes adoptent l’IA de la bonne façon. Ensuite, on mesure l’impact réél avec les bons KPIs et on vous suit pour que vous ne soyez jamais dépassés.</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6F4F1"/>
        </a:solidFill>
      </p:bgPr>
    </p:bg>
    <p:spTree>
      <p:nvGrpSpPr>
        <p:cNvPr id="1" name=""/>
        <p:cNvGrpSpPr/>
        <p:nvPr/>
      </p:nvGrpSpPr>
      <p:grpSpPr>
        <a:xfrm>
          <a:off x="0" y="0"/>
          <a:ext cx="0" cy="0"/>
          <a:chOff x="0" y="0"/>
          <a:chExt cx="0" cy="0"/>
        </a:xfrm>
      </p:grpSpPr>
      <p:sp>
        <p:nvSpPr>
          <p:cNvPr name="TextBox 2" id="2"/>
          <p:cNvSpPr txBox="true"/>
          <p:nvPr/>
        </p:nvSpPr>
        <p:spPr>
          <a:xfrm rot="0">
            <a:off x="8981063" y="1732974"/>
            <a:ext cx="1444016" cy="948690"/>
          </a:xfrm>
          <a:prstGeom prst="rect">
            <a:avLst/>
          </a:prstGeom>
        </p:spPr>
        <p:txBody>
          <a:bodyPr anchor="t" rtlCol="false" tIns="0" lIns="0" bIns="0" rIns="0">
            <a:spAutoFit/>
          </a:bodyPr>
          <a:lstStyle/>
          <a:p>
            <a:pPr algn="r" marL="0" indent="0" lvl="0">
              <a:lnSpc>
                <a:spcPts val="3600"/>
              </a:lnSpc>
              <a:spcBef>
                <a:spcPct val="0"/>
              </a:spcBef>
            </a:pPr>
            <a:r>
              <a:rPr lang="en-US" sz="3600">
                <a:solidFill>
                  <a:srgbClr val="7C898B"/>
                </a:solidFill>
                <a:latin typeface="Lato"/>
                <a:ea typeface="Lato"/>
                <a:cs typeface="Lato"/>
                <a:sym typeface="Lato"/>
              </a:rPr>
              <a:t>ETAPE0</a:t>
            </a:r>
            <a:r>
              <a:rPr lang="en-US" sz="3600" strike="noStrike" u="none">
                <a:solidFill>
                  <a:srgbClr val="7C898B"/>
                </a:solidFill>
                <a:latin typeface="Lato"/>
                <a:ea typeface="Lato"/>
                <a:cs typeface="Lato"/>
                <a:sym typeface="Lato"/>
              </a:rPr>
              <a:t>1</a:t>
            </a:r>
          </a:p>
        </p:txBody>
      </p:sp>
      <p:sp>
        <p:nvSpPr>
          <p:cNvPr name="TextBox 3" id="3"/>
          <p:cNvSpPr txBox="true"/>
          <p:nvPr/>
        </p:nvSpPr>
        <p:spPr>
          <a:xfrm rot="0">
            <a:off x="8981063" y="5381625"/>
            <a:ext cx="1444016" cy="948690"/>
          </a:xfrm>
          <a:prstGeom prst="rect">
            <a:avLst/>
          </a:prstGeom>
        </p:spPr>
        <p:txBody>
          <a:bodyPr anchor="t" rtlCol="false" tIns="0" lIns="0" bIns="0" rIns="0">
            <a:spAutoFit/>
          </a:bodyPr>
          <a:lstStyle/>
          <a:p>
            <a:pPr algn="r" marL="0" indent="0" lvl="0">
              <a:lnSpc>
                <a:spcPts val="3600"/>
              </a:lnSpc>
              <a:spcBef>
                <a:spcPct val="0"/>
              </a:spcBef>
            </a:pPr>
            <a:r>
              <a:rPr lang="en-US" sz="3600">
                <a:solidFill>
                  <a:srgbClr val="7C898B"/>
                </a:solidFill>
                <a:latin typeface="Lato"/>
                <a:ea typeface="Lato"/>
                <a:cs typeface="Lato"/>
                <a:sym typeface="Lato"/>
              </a:rPr>
              <a:t>ETAPE03</a:t>
            </a:r>
          </a:p>
        </p:txBody>
      </p:sp>
      <p:sp>
        <p:nvSpPr>
          <p:cNvPr name="TextBox 4" id="4"/>
          <p:cNvSpPr txBox="true"/>
          <p:nvPr/>
        </p:nvSpPr>
        <p:spPr>
          <a:xfrm rot="0">
            <a:off x="8981063" y="3686810"/>
            <a:ext cx="1444016" cy="948690"/>
          </a:xfrm>
          <a:prstGeom prst="rect">
            <a:avLst/>
          </a:prstGeom>
        </p:spPr>
        <p:txBody>
          <a:bodyPr anchor="t" rtlCol="false" tIns="0" lIns="0" bIns="0" rIns="0">
            <a:spAutoFit/>
          </a:bodyPr>
          <a:lstStyle/>
          <a:p>
            <a:pPr algn="r" marL="0" indent="0" lvl="0">
              <a:lnSpc>
                <a:spcPts val="3600"/>
              </a:lnSpc>
              <a:spcBef>
                <a:spcPct val="0"/>
              </a:spcBef>
            </a:pPr>
            <a:r>
              <a:rPr lang="en-US" sz="3600">
                <a:solidFill>
                  <a:srgbClr val="7C898B"/>
                </a:solidFill>
                <a:latin typeface="Lato"/>
                <a:ea typeface="Lato"/>
                <a:cs typeface="Lato"/>
                <a:sym typeface="Lato"/>
              </a:rPr>
              <a:t>ETAPE02</a:t>
            </a:r>
          </a:p>
        </p:txBody>
      </p:sp>
      <p:sp>
        <p:nvSpPr>
          <p:cNvPr name="TextBox 5" id="5"/>
          <p:cNvSpPr txBox="true"/>
          <p:nvPr/>
        </p:nvSpPr>
        <p:spPr>
          <a:xfrm rot="0">
            <a:off x="8981063" y="7335461"/>
            <a:ext cx="1444016" cy="948690"/>
          </a:xfrm>
          <a:prstGeom prst="rect">
            <a:avLst/>
          </a:prstGeom>
        </p:spPr>
        <p:txBody>
          <a:bodyPr anchor="t" rtlCol="false" tIns="0" lIns="0" bIns="0" rIns="0">
            <a:spAutoFit/>
          </a:bodyPr>
          <a:lstStyle/>
          <a:p>
            <a:pPr algn="r" marL="0" indent="0" lvl="0">
              <a:lnSpc>
                <a:spcPts val="3600"/>
              </a:lnSpc>
              <a:spcBef>
                <a:spcPct val="0"/>
              </a:spcBef>
            </a:pPr>
            <a:r>
              <a:rPr lang="en-US" sz="3600">
                <a:solidFill>
                  <a:srgbClr val="7C898B"/>
                </a:solidFill>
                <a:latin typeface="Lato"/>
                <a:ea typeface="Lato"/>
                <a:cs typeface="Lato"/>
                <a:sym typeface="Lato"/>
              </a:rPr>
              <a:t>ETAPE04</a:t>
            </a:r>
          </a:p>
        </p:txBody>
      </p:sp>
      <p:sp>
        <p:nvSpPr>
          <p:cNvPr name="TextBox 6" id="6"/>
          <p:cNvSpPr txBox="true"/>
          <p:nvPr/>
        </p:nvSpPr>
        <p:spPr>
          <a:xfrm rot="0">
            <a:off x="500674" y="2385060"/>
            <a:ext cx="8480389" cy="3089276"/>
          </a:xfrm>
          <a:prstGeom prst="rect">
            <a:avLst/>
          </a:prstGeom>
        </p:spPr>
        <p:txBody>
          <a:bodyPr anchor="t" rtlCol="false" tIns="0" lIns="0" bIns="0" rIns="0">
            <a:spAutoFit/>
          </a:bodyPr>
          <a:lstStyle/>
          <a:p>
            <a:pPr algn="l">
              <a:lnSpc>
                <a:spcPts val="8000"/>
              </a:lnSpc>
            </a:pPr>
            <a:r>
              <a:rPr lang="en-US" sz="8000">
                <a:solidFill>
                  <a:srgbClr val="253439"/>
                </a:solidFill>
                <a:latin typeface="Lato"/>
                <a:ea typeface="Lato"/>
                <a:cs typeface="Lato"/>
                <a:sym typeface="Lato"/>
              </a:rPr>
              <a:t>Concretement, </a:t>
            </a:r>
          </a:p>
          <a:p>
            <a:pPr algn="l" marL="0" indent="0" lvl="0">
              <a:lnSpc>
                <a:spcPts val="8000"/>
              </a:lnSpc>
              <a:spcBef>
                <a:spcPct val="0"/>
              </a:spcBef>
            </a:pPr>
            <a:r>
              <a:rPr lang="en-US" sz="8000">
                <a:solidFill>
                  <a:srgbClr val="253439"/>
                </a:solidFill>
                <a:latin typeface="Lato"/>
                <a:ea typeface="Lato"/>
                <a:cs typeface="Lato"/>
                <a:sym typeface="Lato"/>
              </a:rPr>
              <a:t>comment on avance ensemble ?</a:t>
            </a:r>
          </a:p>
        </p:txBody>
      </p:sp>
      <p:sp>
        <p:nvSpPr>
          <p:cNvPr name="TextBox 7" id="7"/>
          <p:cNvSpPr txBox="true"/>
          <p:nvPr/>
        </p:nvSpPr>
        <p:spPr>
          <a:xfrm rot="0">
            <a:off x="10796554" y="1937385"/>
            <a:ext cx="5675209" cy="590550"/>
          </a:xfrm>
          <a:prstGeom prst="rect">
            <a:avLst/>
          </a:prstGeom>
        </p:spPr>
        <p:txBody>
          <a:bodyPr anchor="t" rtlCol="false" tIns="0" lIns="0" bIns="0" rIns="0">
            <a:spAutoFit/>
          </a:bodyPr>
          <a:lstStyle/>
          <a:p>
            <a:pPr algn="l">
              <a:lnSpc>
                <a:spcPts val="2279"/>
              </a:lnSpc>
              <a:spcBef>
                <a:spcPct val="0"/>
              </a:spcBef>
            </a:pPr>
            <a:r>
              <a:rPr lang="en-US" sz="1899">
                <a:solidFill>
                  <a:srgbClr val="000000"/>
                </a:solidFill>
                <a:latin typeface="Poppins"/>
                <a:ea typeface="Poppins"/>
                <a:cs typeface="Poppins"/>
                <a:sym typeface="Poppins"/>
              </a:rPr>
              <a:t>On audite</a:t>
            </a:r>
            <a:r>
              <a:rPr lang="en-US" sz="1899">
                <a:solidFill>
                  <a:srgbClr val="000000"/>
                </a:solidFill>
                <a:latin typeface="Poppins"/>
                <a:ea typeface="Poppins"/>
                <a:cs typeface="Poppins"/>
                <a:sym typeface="Poppins"/>
              </a:rPr>
              <a:t> pour établir une cartographie des besoins, des irritants réels et des gains rapides.</a:t>
            </a:r>
          </a:p>
        </p:txBody>
      </p:sp>
      <p:sp>
        <p:nvSpPr>
          <p:cNvPr name="TextBox 8" id="8"/>
          <p:cNvSpPr txBox="true"/>
          <p:nvPr/>
        </p:nvSpPr>
        <p:spPr>
          <a:xfrm rot="0">
            <a:off x="10796554" y="3684905"/>
            <a:ext cx="5094052" cy="876300"/>
          </a:xfrm>
          <a:prstGeom prst="rect">
            <a:avLst/>
          </a:prstGeom>
        </p:spPr>
        <p:txBody>
          <a:bodyPr anchor="t" rtlCol="false" tIns="0" lIns="0" bIns="0" rIns="0">
            <a:spAutoFit/>
          </a:bodyPr>
          <a:lstStyle/>
          <a:p>
            <a:pPr algn="l">
              <a:lnSpc>
                <a:spcPts val="2279"/>
              </a:lnSpc>
              <a:spcBef>
                <a:spcPct val="0"/>
              </a:spcBef>
            </a:pPr>
            <a:r>
              <a:rPr lang="en-US" sz="1899">
                <a:solidFill>
                  <a:srgbClr val="000000"/>
                </a:solidFill>
                <a:latin typeface="Poppins"/>
                <a:ea typeface="Poppins"/>
                <a:cs typeface="Poppins"/>
                <a:sym typeface="Poppins"/>
              </a:rPr>
              <a:t>On crée une f</a:t>
            </a:r>
            <a:r>
              <a:rPr lang="en-US" sz="1899">
                <a:solidFill>
                  <a:srgbClr val="000000"/>
                </a:solidFill>
                <a:latin typeface="Poppins"/>
                <a:ea typeface="Poppins"/>
                <a:cs typeface="Poppins"/>
                <a:sym typeface="Poppins"/>
              </a:rPr>
              <a:t>euille de route IA priorisée par service, formations adaptées à chaque profil, outils à créer ou intégrer. P</a:t>
            </a:r>
          </a:p>
        </p:txBody>
      </p:sp>
      <p:sp>
        <p:nvSpPr>
          <p:cNvPr name="TextBox 9" id="9"/>
          <p:cNvSpPr txBox="true"/>
          <p:nvPr/>
        </p:nvSpPr>
        <p:spPr>
          <a:xfrm rot="0">
            <a:off x="10796554" y="5305425"/>
            <a:ext cx="6241167" cy="1162050"/>
          </a:xfrm>
          <a:prstGeom prst="rect">
            <a:avLst/>
          </a:prstGeom>
        </p:spPr>
        <p:txBody>
          <a:bodyPr anchor="t" rtlCol="false" tIns="0" lIns="0" bIns="0" rIns="0">
            <a:spAutoFit/>
          </a:bodyPr>
          <a:lstStyle/>
          <a:p>
            <a:pPr algn="l">
              <a:lnSpc>
                <a:spcPts val="2279"/>
              </a:lnSpc>
              <a:spcBef>
                <a:spcPct val="0"/>
              </a:spcBef>
            </a:pPr>
            <a:r>
              <a:rPr lang="en-US" sz="1899">
                <a:solidFill>
                  <a:srgbClr val="000000"/>
                </a:solidFill>
                <a:latin typeface="Poppins"/>
                <a:ea typeface="Poppins"/>
                <a:cs typeface="Poppins"/>
                <a:sym typeface="Poppins"/>
              </a:rPr>
              <a:t>On met en place des a</a:t>
            </a:r>
            <a:r>
              <a:rPr lang="en-US" sz="1899">
                <a:solidFill>
                  <a:srgbClr val="000000"/>
                </a:solidFill>
                <a:latin typeface="Poppins"/>
                <a:ea typeface="Poppins"/>
                <a:cs typeface="Poppins"/>
                <a:sym typeface="Poppins"/>
              </a:rPr>
              <a:t>teliers pratiques par groupe métier, ancrés dans des situations réelles. Aucun collaborateur laissé de côté — des plus techniques aux moins à l'aise avec le digital.</a:t>
            </a:r>
          </a:p>
        </p:txBody>
      </p:sp>
      <p:sp>
        <p:nvSpPr>
          <p:cNvPr name="TextBox 10" id="10"/>
          <p:cNvSpPr txBox="true"/>
          <p:nvPr/>
        </p:nvSpPr>
        <p:spPr>
          <a:xfrm rot="0">
            <a:off x="10796554" y="7210425"/>
            <a:ext cx="6307025" cy="1162050"/>
          </a:xfrm>
          <a:prstGeom prst="rect">
            <a:avLst/>
          </a:prstGeom>
        </p:spPr>
        <p:txBody>
          <a:bodyPr anchor="t" rtlCol="false" tIns="0" lIns="0" bIns="0" rIns="0">
            <a:spAutoFit/>
          </a:bodyPr>
          <a:lstStyle/>
          <a:p>
            <a:pPr algn="l">
              <a:lnSpc>
                <a:spcPts val="2279"/>
              </a:lnSpc>
              <a:spcBef>
                <a:spcPct val="0"/>
              </a:spcBef>
            </a:pPr>
            <a:r>
              <a:rPr lang="en-US" sz="1899">
                <a:solidFill>
                  <a:srgbClr val="000000"/>
                </a:solidFill>
                <a:latin typeface="Poppins"/>
                <a:ea typeface="Poppins"/>
                <a:cs typeface="Poppins"/>
                <a:sym typeface="Poppins"/>
              </a:rPr>
              <a:t>On conçoit </a:t>
            </a:r>
            <a:r>
              <a:rPr lang="en-US" sz="1899">
                <a:solidFill>
                  <a:srgbClr val="000000"/>
                </a:solidFill>
                <a:latin typeface="Poppins"/>
                <a:ea typeface="Poppins"/>
                <a:cs typeface="Poppins"/>
                <a:sym typeface="Poppins"/>
              </a:rPr>
              <a:t>des automatisations, des outils et agents identifiés comme utileslors de l'audit. </a:t>
            </a:r>
          </a:p>
          <a:p>
            <a:pPr algn="l">
              <a:lnSpc>
                <a:spcPts val="2279"/>
              </a:lnSpc>
              <a:spcBef>
                <a:spcPct val="0"/>
              </a:spcBef>
            </a:pPr>
            <a:r>
              <a:rPr lang="en-US" sz="1899">
                <a:solidFill>
                  <a:srgbClr val="000000"/>
                </a:solidFill>
                <a:latin typeface="Poppins"/>
                <a:ea typeface="Poppins"/>
                <a:cs typeface="Poppins"/>
                <a:sym typeface="Poppins"/>
              </a:rPr>
              <a:t>Des architectures sécurisées, connectées à vos systèmes, auditables.</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6F4F1"/>
        </a:solidFill>
      </p:bgPr>
    </p:bg>
    <p:spTree>
      <p:nvGrpSpPr>
        <p:cNvPr id="1" name=""/>
        <p:cNvGrpSpPr/>
        <p:nvPr/>
      </p:nvGrpSpPr>
      <p:grpSpPr>
        <a:xfrm>
          <a:off x="0" y="0"/>
          <a:ext cx="0" cy="0"/>
          <a:chOff x="0" y="0"/>
          <a:chExt cx="0" cy="0"/>
        </a:xfrm>
      </p:grpSpPr>
      <p:sp>
        <p:nvSpPr>
          <p:cNvPr name="TextBox 2" id="2"/>
          <p:cNvSpPr txBox="true"/>
          <p:nvPr/>
        </p:nvSpPr>
        <p:spPr>
          <a:xfrm rot="0">
            <a:off x="5087991" y="2578068"/>
            <a:ext cx="8112018" cy="1069976"/>
          </a:xfrm>
          <a:prstGeom prst="rect">
            <a:avLst/>
          </a:prstGeom>
        </p:spPr>
        <p:txBody>
          <a:bodyPr anchor="t" rtlCol="false" tIns="0" lIns="0" bIns="0" rIns="0">
            <a:spAutoFit/>
          </a:bodyPr>
          <a:lstStyle/>
          <a:p>
            <a:pPr algn="ctr" marL="0" indent="0" lvl="0">
              <a:lnSpc>
                <a:spcPts val="8000"/>
              </a:lnSpc>
              <a:spcBef>
                <a:spcPct val="0"/>
              </a:spcBef>
            </a:pPr>
            <a:r>
              <a:rPr lang="en-US" sz="8000">
                <a:solidFill>
                  <a:srgbClr val="253439"/>
                </a:solidFill>
                <a:latin typeface="Lato"/>
                <a:ea typeface="Lato"/>
                <a:cs typeface="Lato"/>
                <a:sym typeface="Lato"/>
              </a:rPr>
              <a:t>Et après ?</a:t>
            </a:r>
          </a:p>
        </p:txBody>
      </p:sp>
      <p:sp>
        <p:nvSpPr>
          <p:cNvPr name="TextBox 3" id="3"/>
          <p:cNvSpPr txBox="true"/>
          <p:nvPr/>
        </p:nvSpPr>
        <p:spPr>
          <a:xfrm rot="0">
            <a:off x="1028700" y="6439422"/>
            <a:ext cx="4238166" cy="737235"/>
          </a:xfrm>
          <a:prstGeom prst="rect">
            <a:avLst/>
          </a:prstGeom>
        </p:spPr>
        <p:txBody>
          <a:bodyPr anchor="t" rtlCol="false" tIns="0" lIns="0" bIns="0" rIns="0">
            <a:spAutoFit/>
          </a:bodyPr>
          <a:lstStyle/>
          <a:p>
            <a:pPr algn="ctr">
              <a:lnSpc>
                <a:spcPts val="2940"/>
              </a:lnSpc>
              <a:spcBef>
                <a:spcPct val="0"/>
              </a:spcBef>
            </a:pPr>
            <a:r>
              <a:rPr lang="en-US" sz="2100">
                <a:solidFill>
                  <a:srgbClr val="253439"/>
                </a:solidFill>
                <a:latin typeface="Lato"/>
                <a:ea typeface="Lato"/>
                <a:cs typeface="Lato"/>
                <a:sym typeface="Lato"/>
              </a:rPr>
              <a:t>On mesure l’impact réel de notre intervention avec les bons KPIs</a:t>
            </a:r>
          </a:p>
        </p:txBody>
      </p:sp>
      <p:sp>
        <p:nvSpPr>
          <p:cNvPr name="TextBox 4" id="4"/>
          <p:cNvSpPr txBox="true"/>
          <p:nvPr/>
        </p:nvSpPr>
        <p:spPr>
          <a:xfrm rot="0">
            <a:off x="13025208" y="6439422"/>
            <a:ext cx="4238166" cy="1480185"/>
          </a:xfrm>
          <a:prstGeom prst="rect">
            <a:avLst/>
          </a:prstGeom>
        </p:spPr>
        <p:txBody>
          <a:bodyPr anchor="t" rtlCol="false" tIns="0" lIns="0" bIns="0" rIns="0">
            <a:spAutoFit/>
          </a:bodyPr>
          <a:lstStyle/>
          <a:p>
            <a:pPr algn="ctr">
              <a:lnSpc>
                <a:spcPts val="2940"/>
              </a:lnSpc>
            </a:pPr>
            <a:r>
              <a:rPr lang="en-US" sz="2100">
                <a:solidFill>
                  <a:srgbClr val="253439"/>
                </a:solidFill>
                <a:latin typeface="Lato"/>
                <a:ea typeface="Lato"/>
                <a:cs typeface="Lato"/>
                <a:sym typeface="Lato"/>
              </a:rPr>
              <a:t>On vous donne accès à notre veille continue par métier. </a:t>
            </a:r>
          </a:p>
          <a:p>
            <a:pPr algn="ctr">
              <a:lnSpc>
                <a:spcPts val="2940"/>
              </a:lnSpc>
              <a:spcBef>
                <a:spcPct val="0"/>
              </a:spcBef>
            </a:pPr>
            <a:r>
              <a:rPr lang="en-US" sz="2100">
                <a:solidFill>
                  <a:srgbClr val="253439"/>
                </a:solidFill>
                <a:latin typeface="Lato"/>
                <a:ea typeface="Lato"/>
                <a:cs typeface="Lato"/>
                <a:sym typeface="Lato"/>
              </a:rPr>
              <a:t>Chaque collaborateur accèdes aux infos qui lui sont utiles</a:t>
            </a:r>
          </a:p>
        </p:txBody>
      </p:sp>
      <p:sp>
        <p:nvSpPr>
          <p:cNvPr name="TextBox 5" id="5"/>
          <p:cNvSpPr txBox="true"/>
          <p:nvPr/>
        </p:nvSpPr>
        <p:spPr>
          <a:xfrm rot="0">
            <a:off x="1712531" y="5590519"/>
            <a:ext cx="2870504" cy="547370"/>
          </a:xfrm>
          <a:prstGeom prst="rect">
            <a:avLst/>
          </a:prstGeom>
        </p:spPr>
        <p:txBody>
          <a:bodyPr anchor="t" rtlCol="false" tIns="0" lIns="0" bIns="0" rIns="0">
            <a:spAutoFit/>
          </a:bodyPr>
          <a:lstStyle/>
          <a:p>
            <a:pPr algn="ctr">
              <a:lnSpc>
                <a:spcPts val="4480"/>
              </a:lnSpc>
              <a:spcBef>
                <a:spcPct val="0"/>
              </a:spcBef>
            </a:pPr>
            <a:r>
              <a:rPr lang="en-US" b="true" sz="3200">
                <a:solidFill>
                  <a:srgbClr val="253439"/>
                </a:solidFill>
                <a:latin typeface="Lato Bold"/>
                <a:ea typeface="Lato Bold"/>
                <a:cs typeface="Lato Bold"/>
                <a:sym typeface="Lato Bold"/>
              </a:rPr>
              <a:t>1</a:t>
            </a:r>
          </a:p>
        </p:txBody>
      </p:sp>
      <p:sp>
        <p:nvSpPr>
          <p:cNvPr name="TextBox 6" id="6"/>
          <p:cNvSpPr txBox="true"/>
          <p:nvPr/>
        </p:nvSpPr>
        <p:spPr>
          <a:xfrm rot="0">
            <a:off x="7708748" y="5590519"/>
            <a:ext cx="2870504" cy="547370"/>
          </a:xfrm>
          <a:prstGeom prst="rect">
            <a:avLst/>
          </a:prstGeom>
        </p:spPr>
        <p:txBody>
          <a:bodyPr anchor="t" rtlCol="false" tIns="0" lIns="0" bIns="0" rIns="0">
            <a:spAutoFit/>
          </a:bodyPr>
          <a:lstStyle/>
          <a:p>
            <a:pPr algn="ctr">
              <a:lnSpc>
                <a:spcPts val="4480"/>
              </a:lnSpc>
              <a:spcBef>
                <a:spcPct val="0"/>
              </a:spcBef>
            </a:pPr>
            <a:r>
              <a:rPr lang="en-US" b="true" sz="3200">
                <a:solidFill>
                  <a:srgbClr val="253439"/>
                </a:solidFill>
                <a:latin typeface="Lato Bold"/>
                <a:ea typeface="Lato Bold"/>
                <a:cs typeface="Lato Bold"/>
                <a:sym typeface="Lato Bold"/>
              </a:rPr>
              <a:t>2</a:t>
            </a:r>
          </a:p>
        </p:txBody>
      </p:sp>
      <p:sp>
        <p:nvSpPr>
          <p:cNvPr name="TextBox 7" id="7"/>
          <p:cNvSpPr txBox="true"/>
          <p:nvPr/>
        </p:nvSpPr>
        <p:spPr>
          <a:xfrm rot="0">
            <a:off x="13709039" y="5590519"/>
            <a:ext cx="2870504" cy="547370"/>
          </a:xfrm>
          <a:prstGeom prst="rect">
            <a:avLst/>
          </a:prstGeom>
        </p:spPr>
        <p:txBody>
          <a:bodyPr anchor="t" rtlCol="false" tIns="0" lIns="0" bIns="0" rIns="0">
            <a:spAutoFit/>
          </a:bodyPr>
          <a:lstStyle/>
          <a:p>
            <a:pPr algn="ctr">
              <a:lnSpc>
                <a:spcPts val="4480"/>
              </a:lnSpc>
              <a:spcBef>
                <a:spcPct val="0"/>
              </a:spcBef>
            </a:pPr>
            <a:r>
              <a:rPr lang="en-US" b="true" sz="3200">
                <a:solidFill>
                  <a:srgbClr val="253439"/>
                </a:solidFill>
                <a:latin typeface="Lato Bold"/>
                <a:ea typeface="Lato Bold"/>
                <a:cs typeface="Lato Bold"/>
                <a:sym typeface="Lato Bold"/>
              </a:rPr>
              <a:t>3</a:t>
            </a:r>
          </a:p>
        </p:txBody>
      </p:sp>
      <p:sp>
        <p:nvSpPr>
          <p:cNvPr name="TextBox 8" id="8"/>
          <p:cNvSpPr txBox="true"/>
          <p:nvPr/>
        </p:nvSpPr>
        <p:spPr>
          <a:xfrm rot="0">
            <a:off x="7024917" y="6439422"/>
            <a:ext cx="4238166" cy="1108710"/>
          </a:xfrm>
          <a:prstGeom prst="rect">
            <a:avLst/>
          </a:prstGeom>
        </p:spPr>
        <p:txBody>
          <a:bodyPr anchor="t" rtlCol="false" tIns="0" lIns="0" bIns="0" rIns="0">
            <a:spAutoFit/>
          </a:bodyPr>
          <a:lstStyle/>
          <a:p>
            <a:pPr algn="ctr">
              <a:lnSpc>
                <a:spcPts val="2940"/>
              </a:lnSpc>
              <a:spcBef>
                <a:spcPct val="0"/>
              </a:spcBef>
            </a:pPr>
            <a:r>
              <a:rPr lang="en-US" sz="2100">
                <a:solidFill>
                  <a:srgbClr val="253439"/>
                </a:solidFill>
                <a:latin typeface="Lato"/>
                <a:ea typeface="Lato"/>
                <a:cs typeface="Lato"/>
                <a:sym typeface="Lato"/>
              </a:rPr>
              <a:t>On vous accompagne sur le  pour assurer une utilisation sécurisée des outils IA</a:t>
            </a:r>
          </a:p>
        </p:txBody>
      </p:sp>
      <p:sp>
        <p:nvSpPr>
          <p:cNvPr name="TextBox 9" id="9"/>
          <p:cNvSpPr txBox="true"/>
          <p:nvPr/>
        </p:nvSpPr>
        <p:spPr>
          <a:xfrm rot="0">
            <a:off x="4375486" y="4082140"/>
            <a:ext cx="9528880" cy="382270"/>
          </a:xfrm>
          <a:prstGeom prst="rect">
            <a:avLst/>
          </a:prstGeom>
        </p:spPr>
        <p:txBody>
          <a:bodyPr anchor="t" rtlCol="false" tIns="0" lIns="0" bIns="0" rIns="0">
            <a:spAutoFit/>
          </a:bodyPr>
          <a:lstStyle/>
          <a:p>
            <a:pPr algn="ctr" marL="0" indent="0" lvl="0">
              <a:lnSpc>
                <a:spcPts val="3079"/>
              </a:lnSpc>
              <a:spcBef>
                <a:spcPct val="0"/>
              </a:spcBef>
            </a:pPr>
            <a:r>
              <a:rPr lang="en-US" sz="2199" spc="-43">
                <a:solidFill>
                  <a:srgbClr val="1C191A"/>
                </a:solidFill>
                <a:latin typeface="Lato"/>
                <a:ea typeface="Lato"/>
                <a:cs typeface="Lato"/>
                <a:sym typeface="Lato"/>
              </a:rPr>
              <a:t>Pas question de vous laisser seuls face à l’IA et ses changements perpetuels. </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6F4F1"/>
        </a:solidFill>
      </p:bgPr>
    </p:bg>
    <p:spTree>
      <p:nvGrpSpPr>
        <p:cNvPr id="1" name=""/>
        <p:cNvGrpSpPr/>
        <p:nvPr/>
      </p:nvGrpSpPr>
      <p:grpSpPr>
        <a:xfrm>
          <a:off x="0" y="0"/>
          <a:ext cx="0" cy="0"/>
          <a:chOff x="0" y="0"/>
          <a:chExt cx="0" cy="0"/>
        </a:xfrm>
      </p:grpSpPr>
      <p:sp>
        <p:nvSpPr>
          <p:cNvPr name="TextBox 2" id="2"/>
          <p:cNvSpPr txBox="true"/>
          <p:nvPr/>
        </p:nvSpPr>
        <p:spPr>
          <a:xfrm rot="0">
            <a:off x="3230790" y="3063874"/>
            <a:ext cx="11826421" cy="2079626"/>
          </a:xfrm>
          <a:prstGeom prst="rect">
            <a:avLst/>
          </a:prstGeom>
        </p:spPr>
        <p:txBody>
          <a:bodyPr anchor="t" rtlCol="false" tIns="0" lIns="0" bIns="0" rIns="0">
            <a:spAutoFit/>
          </a:bodyPr>
          <a:lstStyle/>
          <a:p>
            <a:pPr algn="ctr" marL="0" indent="0" lvl="0">
              <a:lnSpc>
                <a:spcPts val="8000"/>
              </a:lnSpc>
              <a:spcBef>
                <a:spcPct val="0"/>
              </a:spcBef>
            </a:pPr>
            <a:r>
              <a:rPr lang="en-US" sz="8000">
                <a:solidFill>
                  <a:srgbClr val="253439"/>
                </a:solidFill>
                <a:latin typeface="Lato"/>
                <a:ea typeface="Lato"/>
                <a:cs typeface="Lato"/>
                <a:sym typeface="Lato"/>
              </a:rPr>
              <a:t>Et si on prenait 45mn pour se rencontrer ?</a:t>
            </a:r>
          </a:p>
        </p:txBody>
      </p:sp>
      <p:sp>
        <p:nvSpPr>
          <p:cNvPr name="TextBox 3" id="3"/>
          <p:cNvSpPr txBox="true"/>
          <p:nvPr/>
        </p:nvSpPr>
        <p:spPr>
          <a:xfrm rot="0">
            <a:off x="6738640" y="5719240"/>
            <a:ext cx="4810720" cy="716281"/>
          </a:xfrm>
          <a:prstGeom prst="rect">
            <a:avLst/>
          </a:prstGeom>
        </p:spPr>
        <p:txBody>
          <a:bodyPr anchor="t" rtlCol="false" tIns="0" lIns="0" bIns="0" rIns="0">
            <a:spAutoFit/>
          </a:bodyPr>
          <a:lstStyle/>
          <a:p>
            <a:pPr algn="ctr">
              <a:lnSpc>
                <a:spcPts val="2700"/>
              </a:lnSpc>
              <a:spcBef>
                <a:spcPct val="0"/>
              </a:spcBef>
            </a:pPr>
            <a:r>
              <a:rPr lang="en-US" sz="2700">
                <a:solidFill>
                  <a:srgbClr val="253439"/>
                </a:solidFill>
                <a:latin typeface="Lato"/>
                <a:ea typeface="Lato"/>
                <a:cs typeface="Lato"/>
                <a:sym typeface="Lato"/>
              </a:rPr>
              <a:t>Nos meilleurs clients ont dit oui.</a:t>
            </a:r>
          </a:p>
          <a:p>
            <a:pPr algn="ctr">
              <a:lnSpc>
                <a:spcPts val="2700"/>
              </a:lnSpc>
              <a:spcBef>
                <a:spcPct val="0"/>
              </a:spcBef>
            </a:pPr>
            <a:r>
              <a:rPr lang="en-US" sz="2700">
                <a:solidFill>
                  <a:srgbClr val="253439"/>
                </a:solidFill>
                <a:latin typeface="Lato"/>
                <a:ea typeface="Lato"/>
                <a:cs typeface="Lato"/>
                <a:sym typeface="Lato"/>
              </a:rPr>
              <a:t>Aujourd'hui, ils nous remercient.</a:t>
            </a:r>
          </a:p>
        </p:txBody>
      </p:sp>
      <p:sp>
        <p:nvSpPr>
          <p:cNvPr name="TextBox 4" id="4"/>
          <p:cNvSpPr txBox="true"/>
          <p:nvPr/>
        </p:nvSpPr>
        <p:spPr>
          <a:xfrm rot="0">
            <a:off x="6015923" y="7576660"/>
            <a:ext cx="6007745" cy="948690"/>
          </a:xfrm>
          <a:prstGeom prst="rect">
            <a:avLst/>
          </a:prstGeom>
        </p:spPr>
        <p:txBody>
          <a:bodyPr anchor="t" rtlCol="false" tIns="0" lIns="0" bIns="0" rIns="0">
            <a:spAutoFit/>
          </a:bodyPr>
          <a:lstStyle/>
          <a:p>
            <a:pPr algn="ctr">
              <a:lnSpc>
                <a:spcPts val="3600"/>
              </a:lnSpc>
            </a:pPr>
            <a:r>
              <a:rPr lang="en-US" sz="3600">
                <a:solidFill>
                  <a:srgbClr val="253439"/>
                </a:solidFill>
                <a:latin typeface="Lato"/>
                <a:ea typeface="Lato"/>
                <a:cs typeface="Lato"/>
                <a:sym typeface="Lato"/>
              </a:rPr>
              <a:t>Contact : contact@wabisabi.fr</a:t>
            </a:r>
          </a:p>
          <a:p>
            <a:pPr algn="ctr">
              <a:lnSpc>
                <a:spcPts val="3600"/>
              </a:lnSpc>
              <a:spcBef>
                <a:spcPct val="0"/>
              </a:spcBef>
            </a:pPr>
            <a:r>
              <a:rPr lang="en-US" sz="3600">
                <a:solidFill>
                  <a:srgbClr val="253439"/>
                </a:solidFill>
                <a:latin typeface="Lato"/>
                <a:ea typeface="Lato"/>
                <a:cs typeface="Lato"/>
                <a:sym typeface="Lato"/>
              </a:rPr>
              <a:t>07.78.54.33.67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DAHM6_U2C_o</dc:identifier>
  <dcterms:modified xsi:type="dcterms:W3CDTF">2011-08-01T06:04:30Z</dcterms:modified>
  <cp:revision>1</cp:revision>
  <dc:title>Borcelle University</dc:title>
</cp:coreProperties>
</file>